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metadata/core-properties" Target="docProps/core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5" r:id="rId4"/>
    <p:sldId id="258" r:id="rId5"/>
    <p:sldId id="267" r:id="rId6"/>
    <p:sldId id="259" r:id="rId7"/>
    <p:sldId id="260" r:id="rId8"/>
    <p:sldId id="273" r:id="rId9"/>
    <p:sldId id="274" r:id="rId10"/>
    <p:sldId id="268" r:id="rId11"/>
    <p:sldId id="266" r:id="rId12"/>
    <p:sldId id="269" r:id="rId13"/>
    <p:sldId id="271" r:id="rId14"/>
    <p:sldId id="272" r:id="rId15"/>
    <p:sldId id="275" r:id="rId1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B86E8E-4563-3C34-6A07-F5C9098DCA3F}" v="19" dt="2026-10-24T03:22:10.200"/>
    <p1510:client id="{A079E61E-ED46-FC01-8636-52B664B9401F}" v="142" dt="2026-10-24T16:14:01.667"/>
    <p1510:client id="{AB9C5796-9BF6-F034-4229-5CBCAEF84307}" v="3" dt="2026-10-24T13:35:37.528"/>
    <p1510:client id="{DEAADAE7-CEAD-E7C3-DD69-BA175F0BB56F}" v="548" dt="2026-10-24T15:47:43.114"/>
    <p1510:client id="{F5BB5E55-50AD-F9BD-4A05-8A5A4ED8AB00}" v="53" dt="2026-10-25T17:14:50.9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66D8EF-FADB-4D68-A9DF-56F3A689AF80}" type="datetimeFigureOut">
              <a:t>10/25/2026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97B6D7-F888-4AE9-826F-44BA235BEDA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24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down the left column, then down the right.</a:t>
            </a:r>
          </a:p>
          <a:p>
            <a:r>
              <a:t>Sources:</a:t>
            </a:r>
          </a:p>
          <a:p>
            <a:r>
              <a:t>word2vec: https://arxiv.org/abs/1301.3781</a:t>
            </a:r>
          </a:p>
          <a:p>
            <a:r>
              <a:t>GANs: https://arxiv.org/abs/1406.2661</a:t>
            </a:r>
          </a:p>
          <a:p>
            <a:r>
              <a:t>Attention: https://arxiv.org/abs/1409.0473</a:t>
            </a:r>
          </a:p>
          <a:p>
            <a:r>
              <a:t>Atari: https://research.google/blog/from-pixels-to-actions-human-level-control-through-deep-reinforcement-learning/</a:t>
            </a:r>
          </a:p>
          <a:p>
            <a:r>
              <a:t>TensorFlow: https://blog.google/innovation-and-ai/products/tensorflow-smarter-machine-learning-for/</a:t>
            </a:r>
          </a:p>
          <a:p>
            <a:r>
              <a:t>ResNet: https://arxiv.org/abs/1512.03385</a:t>
            </a:r>
          </a:p>
          <a:p>
            <a:r>
              <a:t>OpenAI: https://openai.com/index/introducing-openai/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down the left column, then down the right.</a:t>
            </a:r>
          </a:p>
          <a:p>
            <a:r>
              <a:t>Sources:</a:t>
            </a:r>
          </a:p>
          <a:p>
            <a:r>
              <a:t>Transformers: https://arxiv.org/abs/1706.03762</a:t>
            </a:r>
          </a:p>
          <a:p>
            <a:r>
              <a:t>AlphaZero: https://arxiv.org/abs/1712.01815</a:t>
            </a:r>
          </a:p>
          <a:p>
            <a:r>
              <a:t>GPT: https://openai.com/index/language-unsupervised/</a:t>
            </a:r>
          </a:p>
          <a:p>
            <a:r>
              <a:t>BERT: https://arxiv.org/abs/1810.04805</a:t>
            </a:r>
          </a:p>
          <a:p>
            <a:r>
              <a:t>GPT-2: https://openai.com/index/better-language-models/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;p2"/>
          <p:cNvSpPr/>
          <p:nvPr/>
        </p:nvSpPr>
        <p:spPr>
          <a:xfrm>
            <a:off x="11520" y="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" name="Google Shape;10;p2"/>
          <p:cNvSpPr/>
          <p:nvPr/>
        </p:nvSpPr>
        <p:spPr>
          <a:xfrm>
            <a:off x="11520" y="265680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" name="Google Shape;11;p2"/>
          <p:cNvSpPr/>
          <p:nvPr/>
        </p:nvSpPr>
        <p:spPr>
          <a:xfrm>
            <a:off x="22680" y="398520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5" name="Google Shape;12;p2"/>
          <p:cNvSpPr/>
          <p:nvPr/>
        </p:nvSpPr>
        <p:spPr>
          <a:xfrm>
            <a:off x="11520" y="132840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6" name="Google Shape;13;p2"/>
          <p:cNvSpPr/>
          <p:nvPr/>
        </p:nvSpPr>
        <p:spPr>
          <a:xfrm>
            <a:off x="708120" y="534960"/>
            <a:ext cx="7720560" cy="40730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459240" y="759960"/>
            <a:ext cx="4653720" cy="2824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75;p23"/>
          <p:cNvSpPr/>
          <p:nvPr/>
        </p:nvSpPr>
        <p:spPr>
          <a:xfrm rot="5400000">
            <a:off x="-1536120" y="915120"/>
            <a:ext cx="3682080" cy="11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/(AI)/(AI)/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176;p23"/>
          <p:cNvSpPr/>
          <p:nvPr/>
        </p:nvSpPr>
        <p:spPr>
          <a:xfrm>
            <a:off x="5382360" y="1656000"/>
            <a:ext cx="3753720" cy="3508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177;p23"/>
          <p:cNvSpPr/>
          <p:nvPr/>
        </p:nvSpPr>
        <p:spPr>
          <a:xfrm>
            <a:off x="601200" y="1017720"/>
            <a:ext cx="7961760" cy="37454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3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_1_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81;p24"/>
          <p:cNvSpPr/>
          <p:nvPr/>
        </p:nvSpPr>
        <p:spPr>
          <a:xfrm>
            <a:off x="11520" y="403020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5" name="Google Shape;182;p24"/>
          <p:cNvSpPr/>
          <p:nvPr/>
        </p:nvSpPr>
        <p:spPr>
          <a:xfrm>
            <a:off x="601200" y="444960"/>
            <a:ext cx="7961760" cy="47188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900360" y="604080"/>
            <a:ext cx="5132160" cy="1041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101280" y="0"/>
            <a:ext cx="304236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77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26;p4"/>
          <p:cNvSpPr/>
          <p:nvPr/>
        </p:nvSpPr>
        <p:spPr>
          <a:xfrm rot="5400000">
            <a:off x="-1536120" y="2730240"/>
            <a:ext cx="3682080" cy="11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/(AI)/(AI)/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9" name="Google Shape;27;p4"/>
          <p:cNvSpPr/>
          <p:nvPr/>
        </p:nvSpPr>
        <p:spPr>
          <a:xfrm>
            <a:off x="712440" y="1091160"/>
            <a:ext cx="7716240" cy="40521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3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80;p33"/>
          <p:cNvSpPr/>
          <p:nvPr/>
        </p:nvSpPr>
        <p:spPr>
          <a:xfrm rot="5400000">
            <a:off x="-1536120" y="2730240"/>
            <a:ext cx="3682080" cy="11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/(AI)/(AI)/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3" name="Google Shape;281;p33"/>
          <p:cNvSpPr/>
          <p:nvPr/>
        </p:nvSpPr>
        <p:spPr>
          <a:xfrm>
            <a:off x="7751880" y="0"/>
            <a:ext cx="2370240" cy="514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4" name="Google Shape;282;p33"/>
          <p:cNvSpPr/>
          <p:nvPr/>
        </p:nvSpPr>
        <p:spPr>
          <a:xfrm>
            <a:off x="1096920" y="534960"/>
            <a:ext cx="6963480" cy="40734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356480" y="723240"/>
            <a:ext cx="6430320" cy="997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6" name="Google Shape;285;p33"/>
          <p:cNvSpPr/>
          <p:nvPr/>
        </p:nvSpPr>
        <p:spPr>
          <a:xfrm>
            <a:off x="2359080" y="3530160"/>
            <a:ext cx="4434120" cy="65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CREDITS: This presentation template was created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  <a:hlinkClick r:id="rId2"/>
              </a:rPr>
              <a:t>Slidesgo</a:t>
            </a: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, including icons, infographics &amp; images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  <a:hlinkClick r:id="rId3"/>
              </a:rPr>
              <a:t>Freepik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7" name="Google Shape;286;p33"/>
          <p:cNvSpPr/>
          <p:nvPr/>
        </p:nvSpPr>
        <p:spPr>
          <a:xfrm>
            <a:off x="151200" y="537480"/>
            <a:ext cx="996120" cy="996120"/>
          </a:xfrm>
          <a:prstGeom prst="ellipse">
            <a:avLst/>
          </a:prstGeom>
          <a:solidFill>
            <a:srgbClr val="6E79E4">
              <a:alpha val="36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28" name="Google Shape;287;p33"/>
          <p:cNvGrpSpPr/>
          <p:nvPr/>
        </p:nvGrpSpPr>
        <p:grpSpPr>
          <a:xfrm>
            <a:off x="-267120" y="186840"/>
            <a:ext cx="3397320" cy="186840"/>
            <a:chOff x="-267120" y="186840"/>
            <a:chExt cx="3397320" cy="186840"/>
          </a:xfrm>
        </p:grpSpPr>
        <p:sp>
          <p:nvSpPr>
            <p:cNvPr id="29" name="Google Shape;288;p33"/>
            <p:cNvSpPr/>
            <p:nvPr/>
          </p:nvSpPr>
          <p:spPr>
            <a:xfrm>
              <a:off x="259164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7" h="7491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" name="Google Shape;289;p33"/>
            <p:cNvSpPr/>
            <p:nvPr/>
          </p:nvSpPr>
          <p:spPr>
            <a:xfrm>
              <a:off x="300024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8" h="7491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" name="Google Shape;290;p33"/>
            <p:cNvSpPr/>
            <p:nvPr/>
          </p:nvSpPr>
          <p:spPr>
            <a:xfrm>
              <a:off x="218340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8" h="7491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" name="Google Shape;291;p33"/>
            <p:cNvSpPr/>
            <p:nvPr/>
          </p:nvSpPr>
          <p:spPr>
            <a:xfrm>
              <a:off x="177480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7" h="7491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" name="Google Shape;292;p33"/>
            <p:cNvSpPr/>
            <p:nvPr/>
          </p:nvSpPr>
          <p:spPr>
            <a:xfrm>
              <a:off x="136620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8" h="7491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" name="Google Shape;293;p33"/>
            <p:cNvSpPr/>
            <p:nvPr/>
          </p:nvSpPr>
          <p:spPr>
            <a:xfrm>
              <a:off x="95760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8" h="7491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" name="Google Shape;294;p33"/>
            <p:cNvSpPr/>
            <p:nvPr/>
          </p:nvSpPr>
          <p:spPr>
            <a:xfrm>
              <a:off x="54936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7" h="7491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" name="Google Shape;295;p33"/>
            <p:cNvSpPr/>
            <p:nvPr/>
          </p:nvSpPr>
          <p:spPr>
            <a:xfrm>
              <a:off x="141480" y="186840"/>
              <a:ext cx="129600" cy="186840"/>
            </a:xfrm>
            <a:custGeom>
              <a:avLst/>
              <a:gdLst>
                <a:gd name="textAreaLeft" fmla="*/ 0 w 129600"/>
                <a:gd name="textAreaRight" fmla="*/ 129960 w 12960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197" h="7491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" name="Google Shape;296;p33"/>
            <p:cNvSpPr/>
            <p:nvPr/>
          </p:nvSpPr>
          <p:spPr>
            <a:xfrm>
              <a:off x="-267120" y="186840"/>
              <a:ext cx="129600" cy="186840"/>
            </a:xfrm>
            <a:custGeom>
              <a:avLst/>
              <a:gdLst>
                <a:gd name="textAreaLeft" fmla="*/ 0 w 129600"/>
                <a:gd name="textAreaRight" fmla="*/ 129960 w 12960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197" h="7491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hyperlink" Target="https://www.wired.it/gadget/accessori/2017/11/02/sony-aibo-cane-robot/" TargetMode="External"/><Relationship Id="rId7" Type="http://schemas.openxmlformats.org/officeDocument/2006/relationships/hyperlink" Target="https://blogography.com/archives/2004/01/the_rover_has_l.html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jpeg"/><Relationship Id="rId5" Type="http://schemas.openxmlformats.org/officeDocument/2006/relationships/hyperlink" Target="https://www.wired.it/gadget/domotica/2019/02/19/irobot-roomba-i7-aspirapolvere/" TargetMode="External"/><Relationship Id="rId4" Type="http://schemas.openxmlformats.org/officeDocument/2006/relationships/image" Target="../media/image9.jpeg"/><Relationship Id="rId9" Type="http://schemas.openxmlformats.org/officeDocument/2006/relationships/hyperlink" Target="http://www.newmedia.shoutwiki.com/wiki/Artificial_Intelligenc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deepseek.com/en/news/deepseek-r1/" TargetMode="External"/><Relationship Id="rId13" Type="http://schemas.openxmlformats.org/officeDocument/2006/relationships/hyperlink" Target="https://arxiv.org/abs/1406.2661" TargetMode="External"/><Relationship Id="rId3" Type="http://schemas.openxmlformats.org/officeDocument/2006/relationships/hyperlink" Target="https://arxiv.org/abs/1409.0473" TargetMode="External"/><Relationship Id="rId7" Type="http://schemas.openxmlformats.org/officeDocument/2006/relationships/hyperlink" Target="https://www.computerhistory.org/" TargetMode="External"/><Relationship Id="rId12" Type="http://schemas.openxmlformats.org/officeDocument/2006/relationships/hyperlink" Target="https://qz.com/1034972/the-data-that-changed-the-direction-of-ai-research-and-possibly-the-world" TargetMode="External"/><Relationship Id="rId2" Type="http://schemas.openxmlformats.org/officeDocument/2006/relationships/hyperlink" Target="https://www.anthropic.com/news/claude-3-family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astexam.ai/" TargetMode="External"/><Relationship Id="rId11" Type="http://schemas.openxmlformats.org/officeDocument/2006/relationships/hyperlink" Target="https://epoch.ai/trends" TargetMode="External"/><Relationship Id="rId5" Type="http://schemas.openxmlformats.org/officeDocument/2006/relationships/hyperlink" Target="https://openai.com/index/introducing-openai/" TargetMode="External"/><Relationship Id="rId10" Type="http://schemas.openxmlformats.org/officeDocument/2006/relationships/hyperlink" Target="https://arxiv.org/abs/1810.04805" TargetMode="External"/><Relationship Id="rId4" Type="http://schemas.openxmlformats.org/officeDocument/2006/relationships/hyperlink" Target="https://epoch.ai/data-insights/eci-frontier-trend" TargetMode="External"/><Relationship Id="rId9" Type="http://schemas.openxmlformats.org/officeDocument/2006/relationships/hyperlink" Target="https://www.darpa.mil/news/2014/grand-challenge-ten-years-later" TargetMode="External"/><Relationship Id="rId14" Type="http://schemas.openxmlformats.org/officeDocument/2006/relationships/hyperlink" Target="https://deepmind.google/blog/deep-reinforcement-learning/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spectrum.ieee.org/irobot-roomba-history" TargetMode="External"/><Relationship Id="rId3" Type="http://schemas.openxmlformats.org/officeDocument/2006/relationships/hyperlink" Target="https://arxiv.org/abs/1512.03385" TargetMode="External"/><Relationship Id="rId7" Type="http://schemas.openxmlformats.org/officeDocument/2006/relationships/hyperlink" Target="https://www.ibm.com/history/deep-blue" TargetMode="External"/><Relationship Id="rId2" Type="http://schemas.openxmlformats.org/officeDocument/2006/relationships/hyperlink" Target="https://deepmind.google/science/alphafold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rgo.human.cornell.edu/AHProjects/Hsin99/Voice%20Recognition%20Paper.pdf" TargetMode="External"/><Relationship Id="rId11" Type="http://schemas.openxmlformats.org/officeDocument/2006/relationships/hyperlink" Target="https://doi.org/10.1016/0004-3702(73)90014-5" TargetMode="External"/><Relationship Id="rId5" Type="http://schemas.openxmlformats.org/officeDocument/2006/relationships/hyperlink" Target="https://doi.org/10.1162/neco.2006.18.7.1527" TargetMode="External"/><Relationship Id="rId10" Type="http://schemas.openxmlformats.org/officeDocument/2006/relationships/hyperlink" Target="https://research.google/blog/from-pixels-to-actions-human-level-control-through-deep-reinforcement-learning/" TargetMode="External"/><Relationship Id="rId4" Type="http://schemas.openxmlformats.org/officeDocument/2006/relationships/hyperlink" Target="https://arxiv.org/abs/2009.03300" TargetMode="External"/><Relationship Id="rId9" Type="http://schemas.openxmlformats.org/officeDocument/2006/relationships/hyperlink" Target="https://papers.nips.cc/paper/2012/hash/c399862d3b9d6b76c8436e924a68c45b-Abstract.html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ai.com/index/better-language-models/" TargetMode="External"/><Relationship Id="rId3" Type="http://schemas.openxmlformats.org/officeDocument/2006/relationships/hyperlink" Target="https://doi.org/10.1016/0004-3702(82)90021-2" TargetMode="External"/><Relationship Id="rId7" Type="http://schemas.openxmlformats.org/officeDocument/2006/relationships/hyperlink" Target="https://openai.com/index/language-unsupervised/" TargetMode="External"/><Relationship Id="rId2" Type="http://schemas.openxmlformats.org/officeDocument/2006/relationships/hyperlink" Target="https://doi.org/10.1609/aimag.v27i4.1904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obotics.jpl.nasa.gov/media/documents/05_Chapter3_final.pdf" TargetMode="External"/><Relationship Id="rId11" Type="http://schemas.openxmlformats.org/officeDocument/2006/relationships/hyperlink" Target="https://doi.org/10.1037/h0042519" TargetMode="External"/><Relationship Id="rId5" Type="http://schemas.openxmlformats.org/officeDocument/2006/relationships/hyperlink" Target="https://www.ll.mit.edu/media/9531" TargetMode="External"/><Relationship Id="rId10" Type="http://schemas.openxmlformats.org/officeDocument/2006/relationships/hyperlink" Target="https://blog.google/innovation-and-ai/products/tensorflow-smarter-machine-learning-for/" TargetMode="External"/><Relationship Id="rId4" Type="http://schemas.openxmlformats.org/officeDocument/2006/relationships/hyperlink" Target="https://arxiv.org/abs/1301.3781" TargetMode="External"/><Relationship Id="rId9" Type="http://schemas.openxmlformats.org/officeDocument/2006/relationships/hyperlink" Target="https://openai.com/index/language-models-are-few-shot-learners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mind/LIX.236.433" TargetMode="External"/><Relationship Id="rId2" Type="http://schemas.openxmlformats.org/officeDocument/2006/relationships/hyperlink" Target="https://arxiv.org/abs/1712.01815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imeline_of_artificial_intelligence" TargetMode="External"/><Relationship Id="rId5" Type="http://schemas.openxmlformats.org/officeDocument/2006/relationships/hyperlink" Target="https://doi.org/10.1145/365153.365168" TargetMode="External"/><Relationship Id="rId4" Type="http://schemas.openxmlformats.org/officeDocument/2006/relationships/hyperlink" Target="https://arxiv.org/abs/1706.03762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oogle Shape;340;p39"/>
          <p:cNvGrpSpPr/>
          <p:nvPr/>
        </p:nvGrpSpPr>
        <p:grpSpPr>
          <a:xfrm>
            <a:off x="-717120" y="1417680"/>
            <a:ext cx="3692520" cy="3911760"/>
            <a:chOff x="-717120" y="1417680"/>
            <a:chExt cx="3692520" cy="3911760"/>
          </a:xfrm>
        </p:grpSpPr>
        <p:sp>
          <p:nvSpPr>
            <p:cNvPr id="39" name="Google Shape;341;p39"/>
            <p:cNvSpPr/>
            <p:nvPr/>
          </p:nvSpPr>
          <p:spPr>
            <a:xfrm>
              <a:off x="954000" y="2305800"/>
              <a:ext cx="387000" cy="387000"/>
            </a:xfrm>
            <a:custGeom>
              <a:avLst/>
              <a:gdLst>
                <a:gd name="textAreaLeft" fmla="*/ 0 w 387000"/>
                <a:gd name="textAreaRight" fmla="*/ 387360 w 387000"/>
                <a:gd name="textAreaTop" fmla="*/ 0 h 387000"/>
                <a:gd name="textAreaBottom" fmla="*/ 387360 h 387000"/>
              </a:gdLst>
              <a:ahLst/>
              <a:cxnLst/>
              <a:rect l="textAreaLeft" t="textAreaTop" r="textAreaRight" b="textAreaBottom"/>
              <a:pathLst>
                <a:path w="10129" h="10129">
                  <a:moveTo>
                    <a:pt x="5075" y="0"/>
                  </a:moveTo>
                  <a:cubicBezTo>
                    <a:pt x="2274" y="0"/>
                    <a:pt x="0" y="2274"/>
                    <a:pt x="0" y="5075"/>
                  </a:cubicBezTo>
                  <a:cubicBezTo>
                    <a:pt x="0" y="7855"/>
                    <a:pt x="2274" y="10129"/>
                    <a:pt x="5075" y="10129"/>
                  </a:cubicBezTo>
                  <a:cubicBezTo>
                    <a:pt x="7876" y="10129"/>
                    <a:pt x="10129" y="7855"/>
                    <a:pt x="10129" y="5075"/>
                  </a:cubicBezTo>
                  <a:cubicBezTo>
                    <a:pt x="10129" y="2274"/>
                    <a:pt x="7876" y="0"/>
                    <a:pt x="5075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" name="Google Shape;342;p39"/>
            <p:cNvSpPr/>
            <p:nvPr/>
          </p:nvSpPr>
          <p:spPr>
            <a:xfrm>
              <a:off x="1689480" y="1808640"/>
              <a:ext cx="188280" cy="188280"/>
            </a:xfrm>
            <a:custGeom>
              <a:avLst/>
              <a:gdLst>
                <a:gd name="textAreaLeft" fmla="*/ 0 w 188280"/>
                <a:gd name="textAreaRight" fmla="*/ 188640 w 188280"/>
                <a:gd name="textAreaTop" fmla="*/ 0 h 188280"/>
                <a:gd name="textAreaBottom" fmla="*/ 188640 h 188280"/>
              </a:gdLst>
              <a:ahLst/>
              <a:cxnLst/>
              <a:rect l="textAreaLeft" t="textAreaTop" r="textAreaRight" b="textAreaBottom"/>
              <a:pathLst>
                <a:path w="4933" h="4934">
                  <a:moveTo>
                    <a:pt x="2476" y="1"/>
                  </a:moveTo>
                  <a:cubicBezTo>
                    <a:pt x="1096" y="1"/>
                    <a:pt x="0" y="1097"/>
                    <a:pt x="0" y="2477"/>
                  </a:cubicBezTo>
                  <a:cubicBezTo>
                    <a:pt x="0" y="3837"/>
                    <a:pt x="1096" y="4933"/>
                    <a:pt x="2476" y="4933"/>
                  </a:cubicBezTo>
                  <a:cubicBezTo>
                    <a:pt x="3836" y="4933"/>
                    <a:pt x="4932" y="3837"/>
                    <a:pt x="4932" y="2477"/>
                  </a:cubicBezTo>
                  <a:cubicBezTo>
                    <a:pt x="4932" y="1097"/>
                    <a:pt x="3836" y="1"/>
                    <a:pt x="2476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" name="Google Shape;343;p39"/>
            <p:cNvSpPr/>
            <p:nvPr/>
          </p:nvSpPr>
          <p:spPr>
            <a:xfrm>
              <a:off x="2318400" y="1483200"/>
              <a:ext cx="189000" cy="189000"/>
            </a:xfrm>
            <a:custGeom>
              <a:avLst/>
              <a:gdLst>
                <a:gd name="textAreaLeft" fmla="*/ 0 w 189000"/>
                <a:gd name="textAreaRight" fmla="*/ 189360 w 189000"/>
                <a:gd name="textAreaTop" fmla="*/ 0 h 189000"/>
                <a:gd name="textAreaBottom" fmla="*/ 189360 h 189000"/>
              </a:gdLst>
              <a:ahLst/>
              <a:cxnLst/>
              <a:rect l="textAreaLeft" t="textAreaTop" r="textAreaRight" b="textAreaBottom"/>
              <a:pathLst>
                <a:path w="4953" h="4953">
                  <a:moveTo>
                    <a:pt x="2477" y="0"/>
                  </a:moveTo>
                  <a:cubicBezTo>
                    <a:pt x="1117" y="0"/>
                    <a:pt x="0" y="1117"/>
                    <a:pt x="0" y="2476"/>
                  </a:cubicBezTo>
                  <a:cubicBezTo>
                    <a:pt x="0" y="3836"/>
                    <a:pt x="1117" y="4953"/>
                    <a:pt x="2477" y="4953"/>
                  </a:cubicBezTo>
                  <a:cubicBezTo>
                    <a:pt x="3836" y="4953"/>
                    <a:pt x="4953" y="3836"/>
                    <a:pt x="4953" y="2476"/>
                  </a:cubicBezTo>
                  <a:cubicBezTo>
                    <a:pt x="4953" y="1117"/>
                    <a:pt x="3836" y="0"/>
                    <a:pt x="2477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" name="Google Shape;344;p39"/>
            <p:cNvSpPr/>
            <p:nvPr/>
          </p:nvSpPr>
          <p:spPr>
            <a:xfrm>
              <a:off x="2602800" y="2936160"/>
              <a:ext cx="167400" cy="167400"/>
            </a:xfrm>
            <a:custGeom>
              <a:avLst/>
              <a:gdLst>
                <a:gd name="textAreaLeft" fmla="*/ 0 w 167400"/>
                <a:gd name="textAreaRight" fmla="*/ 167760 w 167400"/>
                <a:gd name="textAreaTop" fmla="*/ 0 h 167400"/>
                <a:gd name="textAreaBottom" fmla="*/ 167760 h 167400"/>
              </a:gdLst>
              <a:ahLst/>
              <a:cxnLst/>
              <a:rect l="textAreaLeft" t="textAreaTop" r="textAreaRight" b="textAreaBottom"/>
              <a:pathLst>
                <a:path w="4385" h="4386">
                  <a:moveTo>
                    <a:pt x="2192" y="1"/>
                  </a:moveTo>
                  <a:cubicBezTo>
                    <a:pt x="974" y="1"/>
                    <a:pt x="0" y="975"/>
                    <a:pt x="0" y="2193"/>
                  </a:cubicBezTo>
                  <a:cubicBezTo>
                    <a:pt x="0" y="3411"/>
                    <a:pt x="974" y="4385"/>
                    <a:pt x="2192" y="4385"/>
                  </a:cubicBezTo>
                  <a:cubicBezTo>
                    <a:pt x="3410" y="4385"/>
                    <a:pt x="4384" y="3411"/>
                    <a:pt x="4384" y="2193"/>
                  </a:cubicBezTo>
                  <a:cubicBezTo>
                    <a:pt x="4384" y="975"/>
                    <a:pt x="3410" y="1"/>
                    <a:pt x="2192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3880" bIns="83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" name="Google Shape;345;p39"/>
            <p:cNvSpPr/>
            <p:nvPr/>
          </p:nvSpPr>
          <p:spPr>
            <a:xfrm>
              <a:off x="2546640" y="2906640"/>
              <a:ext cx="176760" cy="18540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185400"/>
                <a:gd name="textAreaBottom" fmla="*/ 185760 h 185400"/>
              </a:gdLst>
              <a:ahLst/>
              <a:cxnLst/>
              <a:rect l="textAreaLeft" t="textAreaTop" r="textAreaRight" b="textAreaBottom"/>
              <a:pathLst>
                <a:path w="4629" h="4852">
                  <a:moveTo>
                    <a:pt x="163" y="1"/>
                  </a:moveTo>
                  <a:cubicBezTo>
                    <a:pt x="163" y="1"/>
                    <a:pt x="1" y="2660"/>
                    <a:pt x="143" y="2944"/>
                  </a:cubicBezTo>
                  <a:cubicBezTo>
                    <a:pt x="285" y="3228"/>
                    <a:pt x="4121" y="4852"/>
                    <a:pt x="4121" y="4852"/>
                  </a:cubicBezTo>
                  <a:lnTo>
                    <a:pt x="4629" y="1624"/>
                  </a:lnTo>
                  <a:lnTo>
                    <a:pt x="163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" name="Google Shape;346;p39"/>
            <p:cNvSpPr/>
            <p:nvPr/>
          </p:nvSpPr>
          <p:spPr>
            <a:xfrm>
              <a:off x="2448720" y="2421360"/>
              <a:ext cx="102960" cy="174240"/>
            </a:xfrm>
            <a:custGeom>
              <a:avLst/>
              <a:gdLst>
                <a:gd name="textAreaLeft" fmla="*/ 0 w 102960"/>
                <a:gd name="textAreaRight" fmla="*/ 103320 w 102960"/>
                <a:gd name="textAreaTop" fmla="*/ 0 h 174240"/>
                <a:gd name="textAreaBottom" fmla="*/ 174600 h 174240"/>
              </a:gdLst>
              <a:ahLst/>
              <a:cxnLst/>
              <a:rect l="textAreaLeft" t="textAreaTop" r="textAreaRight" b="textAreaBottom"/>
              <a:pathLst>
                <a:path w="2700" h="4568">
                  <a:moveTo>
                    <a:pt x="569" y="1"/>
                  </a:moveTo>
                  <a:lnTo>
                    <a:pt x="0" y="4568"/>
                  </a:lnTo>
                  <a:lnTo>
                    <a:pt x="2700" y="2721"/>
                  </a:lnTo>
                  <a:lnTo>
                    <a:pt x="569" y="1"/>
                  </a:lnTo>
                  <a:close/>
                </a:path>
              </a:pathLst>
            </a:custGeom>
            <a:solidFill>
              <a:srgbClr val="3D3D3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7120" bIns="87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" name="Google Shape;347;p39"/>
            <p:cNvSpPr/>
            <p:nvPr/>
          </p:nvSpPr>
          <p:spPr>
            <a:xfrm>
              <a:off x="2330640" y="1512000"/>
              <a:ext cx="219600" cy="304200"/>
            </a:xfrm>
            <a:custGeom>
              <a:avLst/>
              <a:gdLst>
                <a:gd name="textAreaLeft" fmla="*/ 0 w 219600"/>
                <a:gd name="textAreaRight" fmla="*/ 219960 w 219600"/>
                <a:gd name="textAreaTop" fmla="*/ 0 h 304200"/>
                <a:gd name="textAreaBottom" fmla="*/ 304560 h 304200"/>
              </a:gdLst>
              <a:ahLst/>
              <a:cxnLst/>
              <a:rect l="textAreaLeft" t="textAreaTop" r="textAreaRight" b="textAreaBottom"/>
              <a:pathLst>
                <a:path w="5746" h="7957">
                  <a:moveTo>
                    <a:pt x="3614" y="0"/>
                  </a:moveTo>
                  <a:lnTo>
                    <a:pt x="1" y="1401"/>
                  </a:lnTo>
                  <a:lnTo>
                    <a:pt x="3391" y="7957"/>
                  </a:lnTo>
                  <a:lnTo>
                    <a:pt x="5745" y="6942"/>
                  </a:lnTo>
                  <a:lnTo>
                    <a:pt x="3614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" name="Google Shape;348;p39"/>
            <p:cNvSpPr/>
            <p:nvPr/>
          </p:nvSpPr>
          <p:spPr>
            <a:xfrm>
              <a:off x="1708920" y="1845000"/>
              <a:ext cx="324360" cy="339840"/>
            </a:xfrm>
            <a:custGeom>
              <a:avLst/>
              <a:gdLst>
                <a:gd name="textAreaLeft" fmla="*/ 0 w 324360"/>
                <a:gd name="textAreaRight" fmla="*/ 324720 w 324360"/>
                <a:gd name="textAreaTop" fmla="*/ 0 h 339840"/>
                <a:gd name="textAreaBottom" fmla="*/ 340200 h 339840"/>
              </a:gdLst>
              <a:ahLst/>
              <a:cxnLst/>
              <a:rect l="textAreaLeft" t="textAreaTop" r="textAreaRight" b="textAreaBottom"/>
              <a:pathLst>
                <a:path w="8485" h="8892">
                  <a:moveTo>
                    <a:pt x="3025" y="1"/>
                  </a:moveTo>
                  <a:lnTo>
                    <a:pt x="1" y="2071"/>
                  </a:lnTo>
                  <a:lnTo>
                    <a:pt x="5785" y="8891"/>
                  </a:lnTo>
                  <a:lnTo>
                    <a:pt x="8485" y="6760"/>
                  </a:lnTo>
                  <a:lnTo>
                    <a:pt x="3025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" name="Google Shape;349;p39"/>
            <p:cNvSpPr/>
            <p:nvPr/>
          </p:nvSpPr>
          <p:spPr>
            <a:xfrm>
              <a:off x="202320" y="3447360"/>
              <a:ext cx="611640" cy="592200"/>
            </a:xfrm>
            <a:custGeom>
              <a:avLst/>
              <a:gdLst>
                <a:gd name="textAreaLeft" fmla="*/ 0 w 611640"/>
                <a:gd name="textAreaRight" fmla="*/ 612000 w 611640"/>
                <a:gd name="textAreaTop" fmla="*/ 0 h 592200"/>
                <a:gd name="textAreaBottom" fmla="*/ 592560 h 592200"/>
              </a:gdLst>
              <a:ahLst/>
              <a:cxnLst/>
              <a:rect l="textAreaLeft" t="textAreaTop" r="textAreaRight" b="textAreaBottom"/>
              <a:pathLst>
                <a:path w="15995" h="15488">
                  <a:moveTo>
                    <a:pt x="2091" y="1"/>
                  </a:moveTo>
                  <a:lnTo>
                    <a:pt x="0" y="3147"/>
                  </a:lnTo>
                  <a:lnTo>
                    <a:pt x="15447" y="15488"/>
                  </a:lnTo>
                  <a:lnTo>
                    <a:pt x="15995" y="15163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" name="Google Shape;350;p39"/>
            <p:cNvSpPr/>
            <p:nvPr/>
          </p:nvSpPr>
          <p:spPr>
            <a:xfrm>
              <a:off x="1522440" y="2454840"/>
              <a:ext cx="937800" cy="1208160"/>
            </a:xfrm>
            <a:custGeom>
              <a:avLst/>
              <a:gdLst>
                <a:gd name="textAreaLeft" fmla="*/ 0 w 937800"/>
                <a:gd name="textAreaRight" fmla="*/ 938160 w 937800"/>
                <a:gd name="textAreaTop" fmla="*/ 0 h 1208160"/>
                <a:gd name="textAreaBottom" fmla="*/ 1208520 h 1208160"/>
              </a:gdLst>
              <a:ahLst/>
              <a:cxnLst/>
              <a:rect l="textAreaLeft" t="textAreaTop" r="textAreaRight" b="textAreaBottom"/>
              <a:pathLst>
                <a:path w="24520" h="31587">
                  <a:moveTo>
                    <a:pt x="11265" y="0"/>
                  </a:moveTo>
                  <a:lnTo>
                    <a:pt x="0" y="15427"/>
                  </a:lnTo>
                  <a:lnTo>
                    <a:pt x="13823" y="22247"/>
                  </a:lnTo>
                  <a:cubicBezTo>
                    <a:pt x="13823" y="22247"/>
                    <a:pt x="12057" y="24682"/>
                    <a:pt x="10656" y="27159"/>
                  </a:cubicBezTo>
                  <a:cubicBezTo>
                    <a:pt x="9362" y="29415"/>
                    <a:pt x="9617" y="31587"/>
                    <a:pt x="10656" y="31587"/>
                  </a:cubicBezTo>
                  <a:cubicBezTo>
                    <a:pt x="10757" y="31587"/>
                    <a:pt x="10866" y="31566"/>
                    <a:pt x="10981" y="31523"/>
                  </a:cubicBezTo>
                  <a:cubicBezTo>
                    <a:pt x="12280" y="31056"/>
                    <a:pt x="17862" y="26651"/>
                    <a:pt x="17862" y="26651"/>
                  </a:cubicBezTo>
                  <a:lnTo>
                    <a:pt x="24520" y="18877"/>
                  </a:lnTo>
                  <a:lnTo>
                    <a:pt x="11265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" name="Google Shape;351;p39"/>
            <p:cNvSpPr/>
            <p:nvPr/>
          </p:nvSpPr>
          <p:spPr>
            <a:xfrm>
              <a:off x="1942560" y="3447360"/>
              <a:ext cx="252720" cy="213120"/>
            </a:xfrm>
            <a:custGeom>
              <a:avLst/>
              <a:gdLst>
                <a:gd name="textAreaLeft" fmla="*/ 0 w 252720"/>
                <a:gd name="textAreaRight" fmla="*/ 253080 w 252720"/>
                <a:gd name="textAreaTop" fmla="*/ 0 h 213120"/>
                <a:gd name="textAreaBottom" fmla="*/ 213480 h 213120"/>
              </a:gdLst>
              <a:ahLst/>
              <a:cxnLst/>
              <a:rect l="textAreaLeft" t="textAreaTop" r="textAreaRight" b="textAreaBottom"/>
              <a:pathLst>
                <a:path w="6618" h="5583">
                  <a:moveTo>
                    <a:pt x="6374" y="1"/>
                  </a:moveTo>
                  <a:lnTo>
                    <a:pt x="0" y="5583"/>
                  </a:lnTo>
                  <a:cubicBezTo>
                    <a:pt x="1137" y="5177"/>
                    <a:pt x="5521" y="1787"/>
                    <a:pt x="6617" y="914"/>
                  </a:cubicBezTo>
                  <a:lnTo>
                    <a:pt x="6374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" name="Google Shape;352;p39"/>
            <p:cNvSpPr/>
            <p:nvPr/>
          </p:nvSpPr>
          <p:spPr>
            <a:xfrm>
              <a:off x="1843920" y="2265120"/>
              <a:ext cx="119160" cy="358560"/>
            </a:xfrm>
            <a:custGeom>
              <a:avLst/>
              <a:gdLst>
                <a:gd name="textAreaLeft" fmla="*/ 0 w 119160"/>
                <a:gd name="textAreaRight" fmla="*/ 119520 w 119160"/>
                <a:gd name="textAreaTop" fmla="*/ 0 h 358560"/>
                <a:gd name="textAreaBottom" fmla="*/ 358920 h 358560"/>
              </a:gdLst>
              <a:ahLst/>
              <a:cxnLst/>
              <a:rect l="textAreaLeft" t="textAreaTop" r="textAreaRight" b="textAreaBottom"/>
              <a:pathLst>
                <a:path w="3127" h="9379">
                  <a:moveTo>
                    <a:pt x="1056" y="1"/>
                  </a:moveTo>
                  <a:lnTo>
                    <a:pt x="0" y="9378"/>
                  </a:lnTo>
                  <a:lnTo>
                    <a:pt x="3126" y="7917"/>
                  </a:lnTo>
                  <a:lnTo>
                    <a:pt x="1056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" name="Google Shape;353;p39"/>
            <p:cNvSpPr/>
            <p:nvPr/>
          </p:nvSpPr>
          <p:spPr>
            <a:xfrm>
              <a:off x="2133360" y="2968920"/>
              <a:ext cx="579240" cy="556920"/>
            </a:xfrm>
            <a:custGeom>
              <a:avLst/>
              <a:gdLst>
                <a:gd name="textAreaLeft" fmla="*/ 0 w 579240"/>
                <a:gd name="textAreaRight" fmla="*/ 579600 w 579240"/>
                <a:gd name="textAreaTop" fmla="*/ 0 h 556920"/>
                <a:gd name="textAreaBottom" fmla="*/ 557280 h 556920"/>
              </a:gdLst>
              <a:ahLst/>
              <a:cxnLst/>
              <a:rect l="textAreaLeft" t="textAreaTop" r="textAreaRight" b="textAreaBottom"/>
              <a:pathLst>
                <a:path w="15153" h="14563">
                  <a:moveTo>
                    <a:pt x="10728" y="0"/>
                  </a:moveTo>
                  <a:cubicBezTo>
                    <a:pt x="10728" y="0"/>
                    <a:pt x="2182" y="4364"/>
                    <a:pt x="1127" y="6617"/>
                  </a:cubicBezTo>
                  <a:cubicBezTo>
                    <a:pt x="124" y="8758"/>
                    <a:pt x="1" y="14563"/>
                    <a:pt x="1871" y="14563"/>
                  </a:cubicBezTo>
                  <a:cubicBezTo>
                    <a:pt x="1969" y="14563"/>
                    <a:pt x="2073" y="14547"/>
                    <a:pt x="2182" y="14513"/>
                  </a:cubicBezTo>
                  <a:cubicBezTo>
                    <a:pt x="4374" y="13823"/>
                    <a:pt x="15152" y="3715"/>
                    <a:pt x="15152" y="3715"/>
                  </a:cubicBezTo>
                  <a:lnTo>
                    <a:pt x="14016" y="1259"/>
                  </a:lnTo>
                  <a:lnTo>
                    <a:pt x="10728" y="0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" name="Google Shape;354;p39"/>
            <p:cNvSpPr/>
            <p:nvPr/>
          </p:nvSpPr>
          <p:spPr>
            <a:xfrm>
              <a:off x="2400120" y="2523240"/>
              <a:ext cx="345240" cy="469440"/>
            </a:xfrm>
            <a:custGeom>
              <a:avLst/>
              <a:gdLst>
                <a:gd name="textAreaLeft" fmla="*/ 0 w 345240"/>
                <a:gd name="textAreaRight" fmla="*/ 345600 w 345240"/>
                <a:gd name="textAreaTop" fmla="*/ 0 h 469440"/>
                <a:gd name="textAreaBottom" fmla="*/ 469800 h 469440"/>
              </a:gdLst>
              <a:ahLst/>
              <a:cxnLst/>
              <a:rect l="textAreaLeft" t="textAreaTop" r="textAreaRight" b="textAreaBottom"/>
              <a:pathLst>
                <a:path w="9033" h="12281">
                  <a:moveTo>
                    <a:pt x="4364" y="1"/>
                  </a:moveTo>
                  <a:lnTo>
                    <a:pt x="0" y="610"/>
                  </a:lnTo>
                  <a:lnTo>
                    <a:pt x="3735" y="10718"/>
                  </a:lnTo>
                  <a:lnTo>
                    <a:pt x="7511" y="12281"/>
                  </a:lnTo>
                  <a:lnTo>
                    <a:pt x="9033" y="11266"/>
                  </a:lnTo>
                  <a:lnTo>
                    <a:pt x="4364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" name="Google Shape;355;p39"/>
            <p:cNvSpPr/>
            <p:nvPr/>
          </p:nvSpPr>
          <p:spPr>
            <a:xfrm>
              <a:off x="2585520" y="2585880"/>
              <a:ext cx="159480" cy="382680"/>
            </a:xfrm>
            <a:custGeom>
              <a:avLst/>
              <a:gdLst>
                <a:gd name="textAreaLeft" fmla="*/ 0 w 159480"/>
                <a:gd name="textAreaRight" fmla="*/ 159840 w 159480"/>
                <a:gd name="textAreaTop" fmla="*/ 0 h 382680"/>
                <a:gd name="textAreaBottom" fmla="*/ 383040 h 382680"/>
              </a:gdLst>
              <a:ahLst/>
              <a:cxnLst/>
              <a:rect l="textAreaLeft" t="textAreaTop" r="textAreaRight" b="textAreaBottom"/>
              <a:pathLst>
                <a:path w="4182" h="10008">
                  <a:moveTo>
                    <a:pt x="1" y="1"/>
                  </a:moveTo>
                  <a:lnTo>
                    <a:pt x="3614" y="10007"/>
                  </a:lnTo>
                  <a:lnTo>
                    <a:pt x="4182" y="962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" name="Google Shape;356;p39"/>
            <p:cNvSpPr/>
            <p:nvPr/>
          </p:nvSpPr>
          <p:spPr>
            <a:xfrm>
              <a:off x="2341080" y="2421360"/>
              <a:ext cx="256680" cy="25668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6720" h="6720">
                  <a:moveTo>
                    <a:pt x="3350" y="1"/>
                  </a:moveTo>
                  <a:cubicBezTo>
                    <a:pt x="1503" y="1"/>
                    <a:pt x="1" y="1503"/>
                    <a:pt x="1" y="3370"/>
                  </a:cubicBezTo>
                  <a:cubicBezTo>
                    <a:pt x="1" y="5217"/>
                    <a:pt x="1503" y="6719"/>
                    <a:pt x="3350" y="6719"/>
                  </a:cubicBezTo>
                  <a:cubicBezTo>
                    <a:pt x="5217" y="6719"/>
                    <a:pt x="6719" y="5217"/>
                    <a:pt x="6719" y="3370"/>
                  </a:cubicBezTo>
                  <a:cubicBezTo>
                    <a:pt x="6719" y="1503"/>
                    <a:pt x="5217" y="1"/>
                    <a:pt x="3350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5" name="Google Shape;357;p39"/>
            <p:cNvSpPr/>
            <p:nvPr/>
          </p:nvSpPr>
          <p:spPr>
            <a:xfrm>
              <a:off x="2465280" y="2421360"/>
              <a:ext cx="132480" cy="186840"/>
            </a:xfrm>
            <a:custGeom>
              <a:avLst/>
              <a:gdLst>
                <a:gd name="textAreaLeft" fmla="*/ 0 w 132480"/>
                <a:gd name="textAreaRight" fmla="*/ 132840 w 13248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3472" h="4893">
                  <a:moveTo>
                    <a:pt x="102" y="1"/>
                  </a:moveTo>
                  <a:cubicBezTo>
                    <a:pt x="61" y="1"/>
                    <a:pt x="41" y="21"/>
                    <a:pt x="0" y="21"/>
                  </a:cubicBezTo>
                  <a:cubicBezTo>
                    <a:pt x="1827" y="589"/>
                    <a:pt x="3147" y="2294"/>
                    <a:pt x="3147" y="4304"/>
                  </a:cubicBezTo>
                  <a:cubicBezTo>
                    <a:pt x="3147" y="4507"/>
                    <a:pt x="3126" y="4689"/>
                    <a:pt x="3106" y="4892"/>
                  </a:cubicBezTo>
                  <a:cubicBezTo>
                    <a:pt x="3329" y="4426"/>
                    <a:pt x="3471" y="3918"/>
                    <a:pt x="3471" y="3370"/>
                  </a:cubicBezTo>
                  <a:cubicBezTo>
                    <a:pt x="3471" y="1503"/>
                    <a:pt x="1949" y="1"/>
                    <a:pt x="102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" name="Google Shape;358;p39"/>
            <p:cNvSpPr/>
            <p:nvPr/>
          </p:nvSpPr>
          <p:spPr>
            <a:xfrm>
              <a:off x="2431080" y="2758320"/>
              <a:ext cx="171360" cy="190800"/>
            </a:xfrm>
            <a:custGeom>
              <a:avLst/>
              <a:gdLst>
                <a:gd name="textAreaLeft" fmla="*/ 0 w 171360"/>
                <a:gd name="textAreaRight" fmla="*/ 171720 w 171360"/>
                <a:gd name="textAreaTop" fmla="*/ 0 h 190800"/>
                <a:gd name="textAreaBottom" fmla="*/ 191160 h 190800"/>
              </a:gdLst>
              <a:ahLst/>
              <a:cxnLst/>
              <a:rect l="textAreaLeft" t="textAreaTop" r="textAreaRight" b="textAreaBottom"/>
              <a:pathLst>
                <a:path w="4487" h="4995">
                  <a:moveTo>
                    <a:pt x="995" y="1"/>
                  </a:moveTo>
                  <a:lnTo>
                    <a:pt x="0" y="2031"/>
                  </a:lnTo>
                  <a:lnTo>
                    <a:pt x="3471" y="4994"/>
                  </a:lnTo>
                  <a:lnTo>
                    <a:pt x="4486" y="2254"/>
                  </a:lnTo>
                  <a:lnTo>
                    <a:pt x="995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" name="Google Shape;359;p39"/>
            <p:cNvSpPr/>
            <p:nvPr/>
          </p:nvSpPr>
          <p:spPr>
            <a:xfrm>
              <a:off x="2082960" y="2812680"/>
              <a:ext cx="490320" cy="434880"/>
            </a:xfrm>
            <a:custGeom>
              <a:avLst/>
              <a:gdLst>
                <a:gd name="textAreaLeft" fmla="*/ 0 w 490320"/>
                <a:gd name="textAreaRight" fmla="*/ 490680 w 490320"/>
                <a:gd name="textAreaTop" fmla="*/ 0 h 434880"/>
                <a:gd name="textAreaBottom" fmla="*/ 435240 h 434880"/>
              </a:gdLst>
              <a:ahLst/>
              <a:cxnLst/>
              <a:rect l="textAreaLeft" t="textAreaTop" r="textAreaRight" b="textAreaBottom"/>
              <a:pathLst>
                <a:path w="12827" h="11374">
                  <a:moveTo>
                    <a:pt x="9078" y="1"/>
                  </a:moveTo>
                  <a:cubicBezTo>
                    <a:pt x="9078" y="1"/>
                    <a:pt x="1974" y="3187"/>
                    <a:pt x="918" y="5968"/>
                  </a:cubicBezTo>
                  <a:cubicBezTo>
                    <a:pt x="1" y="8323"/>
                    <a:pt x="974" y="11373"/>
                    <a:pt x="2250" y="11373"/>
                  </a:cubicBezTo>
                  <a:cubicBezTo>
                    <a:pt x="2470" y="11373"/>
                    <a:pt x="2698" y="11283"/>
                    <a:pt x="2928" y="11083"/>
                  </a:cubicBezTo>
                  <a:cubicBezTo>
                    <a:pt x="4494" y="9758"/>
                    <a:pt x="12115" y="4383"/>
                    <a:pt x="12557" y="4383"/>
                  </a:cubicBezTo>
                  <a:cubicBezTo>
                    <a:pt x="12562" y="4383"/>
                    <a:pt x="12566" y="4384"/>
                    <a:pt x="12569" y="4385"/>
                  </a:cubicBezTo>
                  <a:cubicBezTo>
                    <a:pt x="12576" y="4387"/>
                    <a:pt x="12583" y="4389"/>
                    <a:pt x="12589" y="4389"/>
                  </a:cubicBezTo>
                  <a:cubicBezTo>
                    <a:pt x="12826" y="4389"/>
                    <a:pt x="12285" y="2457"/>
                    <a:pt x="12285" y="2457"/>
                  </a:cubicBezTo>
                  <a:lnTo>
                    <a:pt x="907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" name="Google Shape;360;p39"/>
            <p:cNvSpPr/>
            <p:nvPr/>
          </p:nvSpPr>
          <p:spPr>
            <a:xfrm>
              <a:off x="1908360" y="2773800"/>
              <a:ext cx="219600" cy="356040"/>
            </a:xfrm>
            <a:custGeom>
              <a:avLst/>
              <a:gdLst>
                <a:gd name="textAreaLeft" fmla="*/ 0 w 219600"/>
                <a:gd name="textAreaRight" fmla="*/ 219960 w 219600"/>
                <a:gd name="textAreaTop" fmla="*/ 0 h 356040"/>
                <a:gd name="textAreaBottom" fmla="*/ 356400 h 356040"/>
              </a:gdLst>
              <a:ahLst/>
              <a:cxnLst/>
              <a:rect l="textAreaLeft" t="textAreaTop" r="textAreaRight" b="textAreaBottom"/>
              <a:pathLst>
                <a:path w="5745" h="9318">
                  <a:moveTo>
                    <a:pt x="1624" y="1"/>
                  </a:moveTo>
                  <a:lnTo>
                    <a:pt x="0" y="1016"/>
                  </a:lnTo>
                  <a:lnTo>
                    <a:pt x="3512" y="9317"/>
                  </a:lnTo>
                  <a:lnTo>
                    <a:pt x="5744" y="8018"/>
                  </a:lnTo>
                  <a:lnTo>
                    <a:pt x="1624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" name="Google Shape;361;p39"/>
            <p:cNvSpPr/>
            <p:nvPr/>
          </p:nvSpPr>
          <p:spPr>
            <a:xfrm>
              <a:off x="2413080" y="2568240"/>
              <a:ext cx="224280" cy="310320"/>
            </a:xfrm>
            <a:custGeom>
              <a:avLst/>
              <a:gdLst>
                <a:gd name="textAreaLeft" fmla="*/ 0 w 224280"/>
                <a:gd name="textAreaRight" fmla="*/ 224640 w 224280"/>
                <a:gd name="textAreaTop" fmla="*/ 0 h 310320"/>
                <a:gd name="textAreaBottom" fmla="*/ 310680 h 310320"/>
              </a:gdLst>
              <a:ahLst/>
              <a:cxnLst/>
              <a:rect l="textAreaLeft" t="textAreaTop" r="textAreaRight" b="textAreaBottom"/>
              <a:pathLst>
                <a:path w="5867" h="8120">
                  <a:moveTo>
                    <a:pt x="2213" y="1"/>
                  </a:moveTo>
                  <a:lnTo>
                    <a:pt x="1" y="1645"/>
                  </a:lnTo>
                  <a:lnTo>
                    <a:pt x="447" y="6395"/>
                  </a:lnTo>
                  <a:lnTo>
                    <a:pt x="3938" y="8120"/>
                  </a:lnTo>
                  <a:lnTo>
                    <a:pt x="5867" y="6395"/>
                  </a:lnTo>
                  <a:lnTo>
                    <a:pt x="4628" y="1401"/>
                  </a:lnTo>
                  <a:lnTo>
                    <a:pt x="2213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" name="Google Shape;362;p39"/>
            <p:cNvSpPr/>
            <p:nvPr/>
          </p:nvSpPr>
          <p:spPr>
            <a:xfrm>
              <a:off x="1872720" y="2185200"/>
              <a:ext cx="606960" cy="537840"/>
            </a:xfrm>
            <a:custGeom>
              <a:avLst/>
              <a:gdLst>
                <a:gd name="textAreaLeft" fmla="*/ 0 w 606960"/>
                <a:gd name="textAreaRight" fmla="*/ 607320 w 606960"/>
                <a:gd name="textAreaTop" fmla="*/ 0 h 537840"/>
                <a:gd name="textAreaBottom" fmla="*/ 538200 h 537840"/>
              </a:gdLst>
              <a:ahLst/>
              <a:cxnLst/>
              <a:rect l="textAreaLeft" t="textAreaTop" r="textAreaRight" b="textAreaBottom"/>
              <a:pathLst>
                <a:path w="15874" h="14067">
                  <a:moveTo>
                    <a:pt x="0" y="0"/>
                  </a:moveTo>
                  <a:lnTo>
                    <a:pt x="1502" y="10311"/>
                  </a:lnTo>
                  <a:lnTo>
                    <a:pt x="10961" y="14066"/>
                  </a:lnTo>
                  <a:lnTo>
                    <a:pt x="15873" y="9276"/>
                  </a:lnTo>
                  <a:lnTo>
                    <a:pt x="15589" y="5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" name="Google Shape;363;p39"/>
            <p:cNvSpPr/>
            <p:nvPr/>
          </p:nvSpPr>
          <p:spPr>
            <a:xfrm>
              <a:off x="1872720" y="2185200"/>
              <a:ext cx="606960" cy="354600"/>
            </a:xfrm>
            <a:custGeom>
              <a:avLst/>
              <a:gdLst>
                <a:gd name="textAreaLeft" fmla="*/ 0 w 606960"/>
                <a:gd name="textAreaRight" fmla="*/ 607320 w 606960"/>
                <a:gd name="textAreaTop" fmla="*/ 0 h 354600"/>
                <a:gd name="textAreaBottom" fmla="*/ 354960 h 354600"/>
              </a:gdLst>
              <a:ahLst/>
              <a:cxnLst/>
              <a:rect l="textAreaLeft" t="textAreaTop" r="textAreaRight" b="textAreaBottom"/>
              <a:pathLst>
                <a:path w="15874" h="9277">
                  <a:moveTo>
                    <a:pt x="0" y="0"/>
                  </a:moveTo>
                  <a:lnTo>
                    <a:pt x="305" y="2091"/>
                  </a:lnTo>
                  <a:lnTo>
                    <a:pt x="14594" y="6780"/>
                  </a:lnTo>
                  <a:lnTo>
                    <a:pt x="15873" y="9276"/>
                  </a:lnTo>
                  <a:lnTo>
                    <a:pt x="15589" y="5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" name="Google Shape;364;p39"/>
            <p:cNvSpPr/>
            <p:nvPr/>
          </p:nvSpPr>
          <p:spPr>
            <a:xfrm>
              <a:off x="1909800" y="2444760"/>
              <a:ext cx="464040" cy="278640"/>
            </a:xfrm>
            <a:custGeom>
              <a:avLst/>
              <a:gdLst>
                <a:gd name="textAreaLeft" fmla="*/ 0 w 464040"/>
                <a:gd name="textAreaRight" fmla="*/ 464400 w 464040"/>
                <a:gd name="textAreaTop" fmla="*/ 0 h 278640"/>
                <a:gd name="textAreaBottom" fmla="*/ 279000 h 278640"/>
              </a:gdLst>
              <a:ahLst/>
              <a:cxnLst/>
              <a:rect l="textAreaLeft" t="textAreaTop" r="textAreaRight" b="textAreaBottom"/>
              <a:pathLst>
                <a:path w="12139" h="7288">
                  <a:moveTo>
                    <a:pt x="1" y="1"/>
                  </a:moveTo>
                  <a:lnTo>
                    <a:pt x="528" y="3532"/>
                  </a:lnTo>
                  <a:lnTo>
                    <a:pt x="9987" y="7287"/>
                  </a:lnTo>
                  <a:lnTo>
                    <a:pt x="12139" y="531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C2C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" name="Google Shape;365;p39"/>
            <p:cNvSpPr/>
            <p:nvPr/>
          </p:nvSpPr>
          <p:spPr>
            <a:xfrm>
              <a:off x="1319760" y="2214000"/>
              <a:ext cx="565920" cy="896760"/>
            </a:xfrm>
            <a:custGeom>
              <a:avLst/>
              <a:gdLst>
                <a:gd name="textAreaLeft" fmla="*/ 0 w 565920"/>
                <a:gd name="textAreaRight" fmla="*/ 566280 w 565920"/>
                <a:gd name="textAreaTop" fmla="*/ 0 h 896760"/>
                <a:gd name="textAreaBottom" fmla="*/ 897120 h 896760"/>
              </a:gdLst>
              <a:ahLst/>
              <a:cxnLst/>
              <a:rect l="textAreaLeft" t="textAreaTop" r="textAreaRight" b="textAreaBottom"/>
              <a:pathLst>
                <a:path w="14798" h="23444">
                  <a:moveTo>
                    <a:pt x="14797" y="0"/>
                  </a:moveTo>
                  <a:lnTo>
                    <a:pt x="0" y="13803"/>
                  </a:lnTo>
                  <a:lnTo>
                    <a:pt x="3126" y="23444"/>
                  </a:lnTo>
                  <a:lnTo>
                    <a:pt x="7511" y="21922"/>
                  </a:lnTo>
                  <a:lnTo>
                    <a:pt x="14757" y="10250"/>
                  </a:lnTo>
                  <a:lnTo>
                    <a:pt x="14797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" name="Google Shape;366;p39"/>
            <p:cNvSpPr/>
            <p:nvPr/>
          </p:nvSpPr>
          <p:spPr>
            <a:xfrm>
              <a:off x="1412280" y="2421360"/>
              <a:ext cx="471960" cy="689400"/>
            </a:xfrm>
            <a:custGeom>
              <a:avLst/>
              <a:gdLst>
                <a:gd name="textAreaLeft" fmla="*/ 0 w 471960"/>
                <a:gd name="textAreaRight" fmla="*/ 472320 w 471960"/>
                <a:gd name="textAreaTop" fmla="*/ 0 h 689400"/>
                <a:gd name="textAreaBottom" fmla="*/ 689760 h 689400"/>
              </a:gdLst>
              <a:ahLst/>
              <a:cxnLst/>
              <a:rect l="textAreaLeft" t="textAreaTop" r="textAreaRight" b="textAreaBottom"/>
              <a:pathLst>
                <a:path w="12342" h="18025">
                  <a:moveTo>
                    <a:pt x="12342" y="1"/>
                  </a:moveTo>
                  <a:lnTo>
                    <a:pt x="1" y="15873"/>
                  </a:lnTo>
                  <a:lnTo>
                    <a:pt x="711" y="18025"/>
                  </a:lnTo>
                  <a:lnTo>
                    <a:pt x="5096" y="16503"/>
                  </a:lnTo>
                  <a:lnTo>
                    <a:pt x="12342" y="4831"/>
                  </a:lnTo>
                  <a:lnTo>
                    <a:pt x="12342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" name="Google Shape;367;p39"/>
            <p:cNvSpPr/>
            <p:nvPr/>
          </p:nvSpPr>
          <p:spPr>
            <a:xfrm>
              <a:off x="1115640" y="2318040"/>
              <a:ext cx="337320" cy="398880"/>
            </a:xfrm>
            <a:custGeom>
              <a:avLst/>
              <a:gdLst>
                <a:gd name="textAreaLeft" fmla="*/ 0 w 337320"/>
                <a:gd name="textAreaRight" fmla="*/ 337680 w 337320"/>
                <a:gd name="textAreaTop" fmla="*/ 0 h 398880"/>
                <a:gd name="textAreaBottom" fmla="*/ 399240 h 398880"/>
              </a:gdLst>
              <a:ahLst/>
              <a:cxnLst/>
              <a:rect l="textAreaLeft" t="textAreaTop" r="textAreaRight" b="textAreaBottom"/>
              <a:pathLst>
                <a:path w="8830" h="10434">
                  <a:moveTo>
                    <a:pt x="2619" y="0"/>
                  </a:moveTo>
                  <a:lnTo>
                    <a:pt x="0" y="3552"/>
                  </a:lnTo>
                  <a:lnTo>
                    <a:pt x="8282" y="10433"/>
                  </a:lnTo>
                  <a:lnTo>
                    <a:pt x="8830" y="9804"/>
                  </a:lnTo>
                  <a:lnTo>
                    <a:pt x="2619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" name="Google Shape;368;p39"/>
            <p:cNvSpPr/>
            <p:nvPr/>
          </p:nvSpPr>
          <p:spPr>
            <a:xfrm>
              <a:off x="-717120" y="3543480"/>
              <a:ext cx="1510200" cy="1785960"/>
            </a:xfrm>
            <a:custGeom>
              <a:avLst/>
              <a:gdLst>
                <a:gd name="textAreaLeft" fmla="*/ 0 w 1510200"/>
                <a:gd name="textAreaRight" fmla="*/ 1510560 w 1510200"/>
                <a:gd name="textAreaTop" fmla="*/ 0 h 1785960"/>
                <a:gd name="textAreaBottom" fmla="*/ 1786320 h 1785960"/>
              </a:gdLst>
              <a:ahLst/>
              <a:cxnLst/>
              <a:rect l="textAreaLeft" t="textAreaTop" r="textAreaRight" b="textAreaBottom"/>
              <a:pathLst>
                <a:path w="39480" h="46686">
                  <a:moveTo>
                    <a:pt x="23242" y="1"/>
                  </a:moveTo>
                  <a:lnTo>
                    <a:pt x="1" y="35176"/>
                  </a:lnTo>
                  <a:lnTo>
                    <a:pt x="31462" y="46685"/>
                  </a:lnTo>
                  <a:lnTo>
                    <a:pt x="39480" y="12971"/>
                  </a:lnTo>
                  <a:lnTo>
                    <a:pt x="2324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" name="Google Shape;369;p39"/>
            <p:cNvSpPr/>
            <p:nvPr/>
          </p:nvSpPr>
          <p:spPr>
            <a:xfrm>
              <a:off x="241920" y="2481120"/>
              <a:ext cx="1466640" cy="1545840"/>
            </a:xfrm>
            <a:custGeom>
              <a:avLst/>
              <a:gdLst>
                <a:gd name="textAreaLeft" fmla="*/ 0 w 1466640"/>
                <a:gd name="textAreaRight" fmla="*/ 1467000 w 1466640"/>
                <a:gd name="textAreaTop" fmla="*/ 0 h 1545840"/>
                <a:gd name="textAreaBottom" fmla="*/ 1546200 h 1545840"/>
              </a:gdLst>
              <a:ahLst/>
              <a:cxnLst/>
              <a:rect l="textAreaLeft" t="textAreaTop" r="textAreaRight" b="textAreaBottom"/>
              <a:pathLst>
                <a:path w="38343" h="40410">
                  <a:moveTo>
                    <a:pt x="20910" y="0"/>
                  </a:moveTo>
                  <a:cubicBezTo>
                    <a:pt x="20694" y="0"/>
                    <a:pt x="20501" y="24"/>
                    <a:pt x="20339" y="78"/>
                  </a:cubicBezTo>
                  <a:cubicBezTo>
                    <a:pt x="18816" y="606"/>
                    <a:pt x="17071" y="1275"/>
                    <a:pt x="16665" y="1742"/>
                  </a:cubicBezTo>
                  <a:cubicBezTo>
                    <a:pt x="15893" y="2574"/>
                    <a:pt x="15731" y="4949"/>
                    <a:pt x="14412" y="6634"/>
                  </a:cubicBezTo>
                  <a:cubicBezTo>
                    <a:pt x="13092" y="8339"/>
                    <a:pt x="0" y="24232"/>
                    <a:pt x="0" y="24232"/>
                  </a:cubicBezTo>
                  <a:lnTo>
                    <a:pt x="427" y="28210"/>
                  </a:lnTo>
                  <a:lnTo>
                    <a:pt x="14960" y="40409"/>
                  </a:lnTo>
                  <a:cubicBezTo>
                    <a:pt x="14960" y="40409"/>
                    <a:pt x="31543" y="35091"/>
                    <a:pt x="34588" y="31925"/>
                  </a:cubicBezTo>
                  <a:cubicBezTo>
                    <a:pt x="37632" y="28779"/>
                    <a:pt x="38343" y="24557"/>
                    <a:pt x="38343" y="24557"/>
                  </a:cubicBezTo>
                  <a:lnTo>
                    <a:pt x="32680" y="13555"/>
                  </a:lnTo>
                  <a:lnTo>
                    <a:pt x="31989" y="6898"/>
                  </a:lnTo>
                  <a:lnTo>
                    <a:pt x="25210" y="1255"/>
                  </a:lnTo>
                  <a:cubicBezTo>
                    <a:pt x="25210" y="1255"/>
                    <a:pt x="22480" y="0"/>
                    <a:pt x="20910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8" name="Google Shape;370;p39"/>
            <p:cNvSpPr/>
            <p:nvPr/>
          </p:nvSpPr>
          <p:spPr>
            <a:xfrm>
              <a:off x="641160" y="3382920"/>
              <a:ext cx="1067400" cy="613080"/>
            </a:xfrm>
            <a:custGeom>
              <a:avLst/>
              <a:gdLst>
                <a:gd name="textAreaLeft" fmla="*/ 0 w 1067400"/>
                <a:gd name="textAreaRight" fmla="*/ 1067760 w 1067400"/>
                <a:gd name="textAreaTop" fmla="*/ 0 h 613080"/>
                <a:gd name="textAreaBottom" fmla="*/ 613440 h 613080"/>
              </a:gdLst>
              <a:ahLst/>
              <a:cxnLst/>
              <a:rect l="textAreaLeft" t="textAreaTop" r="textAreaRight" b="textAreaBottom"/>
              <a:pathLst>
                <a:path w="27910" h="16030">
                  <a:moveTo>
                    <a:pt x="2935" y="1"/>
                  </a:moveTo>
                  <a:cubicBezTo>
                    <a:pt x="2147" y="1"/>
                    <a:pt x="1543" y="867"/>
                    <a:pt x="1543" y="867"/>
                  </a:cubicBezTo>
                  <a:cubicBezTo>
                    <a:pt x="0" y="10305"/>
                    <a:pt x="6069" y="15238"/>
                    <a:pt x="6942" y="16029"/>
                  </a:cubicBezTo>
                  <a:cubicBezTo>
                    <a:pt x="11671" y="14426"/>
                    <a:pt x="21841" y="10772"/>
                    <a:pt x="24155" y="8357"/>
                  </a:cubicBezTo>
                  <a:cubicBezTo>
                    <a:pt x="27199" y="5211"/>
                    <a:pt x="27910" y="989"/>
                    <a:pt x="27910" y="989"/>
                  </a:cubicBezTo>
                  <a:lnTo>
                    <a:pt x="27605" y="380"/>
                  </a:lnTo>
                  <a:lnTo>
                    <a:pt x="20379" y="3424"/>
                  </a:lnTo>
                  <a:cubicBezTo>
                    <a:pt x="20379" y="3424"/>
                    <a:pt x="16034" y="1233"/>
                    <a:pt x="12989" y="1233"/>
                  </a:cubicBezTo>
                  <a:cubicBezTo>
                    <a:pt x="12113" y="1233"/>
                    <a:pt x="11345" y="1415"/>
                    <a:pt x="10819" y="1882"/>
                  </a:cubicBezTo>
                  <a:cubicBezTo>
                    <a:pt x="9940" y="2669"/>
                    <a:pt x="8969" y="2999"/>
                    <a:pt x="8031" y="2999"/>
                  </a:cubicBezTo>
                  <a:cubicBezTo>
                    <a:pt x="6477" y="2999"/>
                    <a:pt x="5012" y="2094"/>
                    <a:pt x="4202" y="867"/>
                  </a:cubicBezTo>
                  <a:cubicBezTo>
                    <a:pt x="3769" y="217"/>
                    <a:pt x="3329" y="1"/>
                    <a:pt x="2935" y="1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" name="Google Shape;371;p39"/>
            <p:cNvSpPr/>
            <p:nvPr/>
          </p:nvSpPr>
          <p:spPr>
            <a:xfrm>
              <a:off x="470160" y="2938680"/>
              <a:ext cx="248040" cy="276120"/>
            </a:xfrm>
            <a:custGeom>
              <a:avLst/>
              <a:gdLst>
                <a:gd name="textAreaLeft" fmla="*/ 0 w 248040"/>
                <a:gd name="textAreaRight" fmla="*/ 248400 w 248040"/>
                <a:gd name="textAreaTop" fmla="*/ 0 h 276120"/>
                <a:gd name="textAreaBottom" fmla="*/ 276480 h 276120"/>
              </a:gdLst>
              <a:ahLst/>
              <a:cxnLst/>
              <a:rect l="textAreaLeft" t="textAreaTop" r="textAreaRight" b="textAreaBottom"/>
              <a:pathLst>
                <a:path w="6497" h="7227">
                  <a:moveTo>
                    <a:pt x="6435" y="1"/>
                  </a:moveTo>
                  <a:cubicBezTo>
                    <a:pt x="6435" y="1"/>
                    <a:pt x="6029" y="1665"/>
                    <a:pt x="3959" y="4060"/>
                  </a:cubicBezTo>
                  <a:cubicBezTo>
                    <a:pt x="1868" y="6435"/>
                    <a:pt x="1" y="7227"/>
                    <a:pt x="1" y="7227"/>
                  </a:cubicBezTo>
                  <a:cubicBezTo>
                    <a:pt x="1" y="7227"/>
                    <a:pt x="3046" y="6740"/>
                    <a:pt x="4771" y="4466"/>
                  </a:cubicBezTo>
                  <a:cubicBezTo>
                    <a:pt x="6496" y="2213"/>
                    <a:pt x="6435" y="1"/>
                    <a:pt x="643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" name="Google Shape;372;p39"/>
            <p:cNvSpPr/>
            <p:nvPr/>
          </p:nvSpPr>
          <p:spPr>
            <a:xfrm>
              <a:off x="1440000" y="2723400"/>
              <a:ext cx="50040" cy="261360"/>
            </a:xfrm>
            <a:custGeom>
              <a:avLst/>
              <a:gdLst>
                <a:gd name="textAreaLeft" fmla="*/ 0 w 50040"/>
                <a:gd name="textAreaRight" fmla="*/ 50400 w 50040"/>
                <a:gd name="textAreaTop" fmla="*/ 0 h 261360"/>
                <a:gd name="textAreaBottom" fmla="*/ 261720 h 261360"/>
              </a:gdLst>
              <a:ahLst/>
              <a:cxnLst/>
              <a:rect l="textAreaLeft" t="textAreaTop" r="textAreaRight" b="textAreaBottom"/>
              <a:pathLst>
                <a:path w="1320" h="6841">
                  <a:moveTo>
                    <a:pt x="1" y="0"/>
                  </a:moveTo>
                  <a:lnTo>
                    <a:pt x="346" y="1502"/>
                  </a:lnTo>
                  <a:lnTo>
                    <a:pt x="589" y="6699"/>
                  </a:lnTo>
                  <a:lnTo>
                    <a:pt x="1320" y="6841"/>
                  </a:lnTo>
                  <a:lnTo>
                    <a:pt x="1320" y="6841"/>
                  </a:lnTo>
                  <a:lnTo>
                    <a:pt x="670" y="56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" name="Google Shape;373;p39"/>
            <p:cNvSpPr/>
            <p:nvPr/>
          </p:nvSpPr>
          <p:spPr>
            <a:xfrm>
              <a:off x="860040" y="3702600"/>
              <a:ext cx="704880" cy="293400"/>
            </a:xfrm>
            <a:custGeom>
              <a:avLst/>
              <a:gdLst>
                <a:gd name="textAreaLeft" fmla="*/ 0 w 704880"/>
                <a:gd name="textAreaRight" fmla="*/ 705240 w 704880"/>
                <a:gd name="textAreaTop" fmla="*/ 0 h 293400"/>
                <a:gd name="textAreaBottom" fmla="*/ 293760 h 293400"/>
              </a:gdLst>
              <a:ahLst/>
              <a:cxnLst/>
              <a:rect l="textAreaLeft" t="textAreaTop" r="textAreaRight" b="textAreaBottom"/>
              <a:pathLst>
                <a:path w="18431" h="7674">
                  <a:moveTo>
                    <a:pt x="18431" y="1"/>
                  </a:moveTo>
                  <a:lnTo>
                    <a:pt x="18431" y="1"/>
                  </a:lnTo>
                  <a:cubicBezTo>
                    <a:pt x="18430" y="1"/>
                    <a:pt x="14310" y="2152"/>
                    <a:pt x="9926" y="3776"/>
                  </a:cubicBezTo>
                  <a:cubicBezTo>
                    <a:pt x="5521" y="5420"/>
                    <a:pt x="0" y="6435"/>
                    <a:pt x="0" y="6435"/>
                  </a:cubicBezTo>
                  <a:lnTo>
                    <a:pt x="1218" y="7673"/>
                  </a:lnTo>
                  <a:cubicBezTo>
                    <a:pt x="5947" y="6070"/>
                    <a:pt x="16117" y="2416"/>
                    <a:pt x="1843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" name="Google Shape;374;p39"/>
            <p:cNvSpPr/>
            <p:nvPr/>
          </p:nvSpPr>
          <p:spPr>
            <a:xfrm>
              <a:off x="383040" y="2850840"/>
              <a:ext cx="316440" cy="385560"/>
            </a:xfrm>
            <a:custGeom>
              <a:avLst/>
              <a:gdLst>
                <a:gd name="textAreaLeft" fmla="*/ 0 w 316440"/>
                <a:gd name="textAreaRight" fmla="*/ 316800 w 316440"/>
                <a:gd name="textAreaTop" fmla="*/ 0 h 385560"/>
                <a:gd name="textAreaBottom" fmla="*/ 385920 h 385560"/>
              </a:gdLst>
              <a:ahLst/>
              <a:cxnLst/>
              <a:rect l="textAreaLeft" t="textAreaTop" r="textAreaRight" b="textAreaBottom"/>
              <a:pathLst>
                <a:path w="8282" h="10089">
                  <a:moveTo>
                    <a:pt x="8282" y="0"/>
                  </a:moveTo>
                  <a:cubicBezTo>
                    <a:pt x="5988" y="2801"/>
                    <a:pt x="2578" y="6942"/>
                    <a:pt x="1" y="10088"/>
                  </a:cubicBezTo>
                  <a:lnTo>
                    <a:pt x="1218" y="10088"/>
                  </a:lnTo>
                  <a:lnTo>
                    <a:pt x="8282" y="1604"/>
                  </a:lnTo>
                  <a:lnTo>
                    <a:pt x="8282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" name="Google Shape;375;p39"/>
            <p:cNvSpPr/>
            <p:nvPr/>
          </p:nvSpPr>
          <p:spPr>
            <a:xfrm>
              <a:off x="1215720" y="3319200"/>
              <a:ext cx="492840" cy="390240"/>
            </a:xfrm>
            <a:custGeom>
              <a:avLst/>
              <a:gdLst>
                <a:gd name="textAreaLeft" fmla="*/ 0 w 492840"/>
                <a:gd name="textAreaRight" fmla="*/ 493200 w 492840"/>
                <a:gd name="textAreaTop" fmla="*/ 0 h 390240"/>
                <a:gd name="textAreaBottom" fmla="*/ 390600 h 390240"/>
              </a:gdLst>
              <a:ahLst/>
              <a:cxnLst/>
              <a:rect l="textAreaLeft" t="textAreaTop" r="textAreaRight" b="textAreaBottom"/>
              <a:pathLst>
                <a:path w="12890" h="10209">
                  <a:moveTo>
                    <a:pt x="11509" y="1"/>
                  </a:moveTo>
                  <a:lnTo>
                    <a:pt x="1" y="9987"/>
                  </a:lnTo>
                  <a:cubicBezTo>
                    <a:pt x="1" y="9987"/>
                    <a:pt x="1571" y="10209"/>
                    <a:pt x="3775" y="10209"/>
                  </a:cubicBezTo>
                  <a:cubicBezTo>
                    <a:pt x="5460" y="10209"/>
                    <a:pt x="7515" y="10079"/>
                    <a:pt x="9520" y="9622"/>
                  </a:cubicBezTo>
                  <a:cubicBezTo>
                    <a:pt x="12240" y="6516"/>
                    <a:pt x="12890" y="2660"/>
                    <a:pt x="12890" y="2660"/>
                  </a:cubicBezTo>
                  <a:lnTo>
                    <a:pt x="11509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" name="Google Shape;376;p39"/>
            <p:cNvSpPr/>
            <p:nvPr/>
          </p:nvSpPr>
          <p:spPr>
            <a:xfrm>
              <a:off x="1215720" y="1918080"/>
              <a:ext cx="714240" cy="774720"/>
            </a:xfrm>
            <a:custGeom>
              <a:avLst/>
              <a:gdLst>
                <a:gd name="textAreaLeft" fmla="*/ 0 w 714240"/>
                <a:gd name="textAreaRight" fmla="*/ 714600 w 714240"/>
                <a:gd name="textAreaTop" fmla="*/ 0 h 774720"/>
                <a:gd name="textAreaBottom" fmla="*/ 775080 h 774720"/>
              </a:gdLst>
              <a:ahLst/>
              <a:cxnLst/>
              <a:rect l="textAreaLeft" t="textAreaTop" r="textAreaRight" b="textAreaBottom"/>
              <a:pathLst>
                <a:path w="18675" h="20258">
                  <a:moveTo>
                    <a:pt x="14777" y="1"/>
                  </a:moveTo>
                  <a:lnTo>
                    <a:pt x="12220" y="224"/>
                  </a:lnTo>
                  <a:lnTo>
                    <a:pt x="1" y="10454"/>
                  </a:lnTo>
                  <a:lnTo>
                    <a:pt x="731" y="15021"/>
                  </a:lnTo>
                  <a:lnTo>
                    <a:pt x="6212" y="20258"/>
                  </a:lnTo>
                  <a:lnTo>
                    <a:pt x="7511" y="20258"/>
                  </a:lnTo>
                  <a:lnTo>
                    <a:pt x="18674" y="7734"/>
                  </a:lnTo>
                  <a:lnTo>
                    <a:pt x="18674" y="5035"/>
                  </a:lnTo>
                  <a:lnTo>
                    <a:pt x="14777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" name="Google Shape;377;p39"/>
            <p:cNvSpPr/>
            <p:nvPr/>
          </p:nvSpPr>
          <p:spPr>
            <a:xfrm>
              <a:off x="1809000" y="1558440"/>
              <a:ext cx="659880" cy="547920"/>
            </a:xfrm>
            <a:custGeom>
              <a:avLst/>
              <a:gdLst>
                <a:gd name="textAreaLeft" fmla="*/ 0 w 659880"/>
                <a:gd name="textAreaRight" fmla="*/ 660240 w 659880"/>
                <a:gd name="textAreaTop" fmla="*/ 0 h 547920"/>
                <a:gd name="textAreaBottom" fmla="*/ 548280 h 547920"/>
              </a:gdLst>
              <a:ahLst/>
              <a:cxnLst/>
              <a:rect l="textAreaLeft" t="textAreaTop" r="textAreaRight" b="textAreaBottom"/>
              <a:pathLst>
                <a:path w="17254" h="14331">
                  <a:moveTo>
                    <a:pt x="12971" y="0"/>
                  </a:moveTo>
                  <a:lnTo>
                    <a:pt x="630" y="6658"/>
                  </a:lnTo>
                  <a:lnTo>
                    <a:pt x="1" y="8972"/>
                  </a:lnTo>
                  <a:lnTo>
                    <a:pt x="4000" y="13924"/>
                  </a:lnTo>
                  <a:lnTo>
                    <a:pt x="6374" y="14330"/>
                  </a:lnTo>
                  <a:lnTo>
                    <a:pt x="16970" y="7165"/>
                  </a:lnTo>
                  <a:lnTo>
                    <a:pt x="17254" y="4689"/>
                  </a:lnTo>
                  <a:lnTo>
                    <a:pt x="15001" y="568"/>
                  </a:lnTo>
                  <a:lnTo>
                    <a:pt x="12971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" name="Google Shape;378;p39"/>
            <p:cNvSpPr/>
            <p:nvPr/>
          </p:nvSpPr>
          <p:spPr>
            <a:xfrm>
              <a:off x="2413080" y="1417680"/>
              <a:ext cx="562320" cy="367560"/>
            </a:xfrm>
            <a:custGeom>
              <a:avLst/>
              <a:gdLst>
                <a:gd name="textAreaLeft" fmla="*/ 0 w 562320"/>
                <a:gd name="textAreaRight" fmla="*/ 562680 w 562320"/>
                <a:gd name="textAreaTop" fmla="*/ 0 h 367560"/>
                <a:gd name="textAreaBottom" fmla="*/ 367920 h 367560"/>
              </a:gdLst>
              <a:ahLst/>
              <a:cxnLst/>
              <a:rect l="textAreaLeft" t="textAreaTop" r="textAreaRight" b="textAreaBottom"/>
              <a:pathLst>
                <a:path w="14703" h="9614">
                  <a:moveTo>
                    <a:pt x="12878" y="1"/>
                  </a:moveTo>
                  <a:cubicBezTo>
                    <a:pt x="12768" y="1"/>
                    <a:pt x="12657" y="11"/>
                    <a:pt x="12544" y="33"/>
                  </a:cubicBezTo>
                  <a:lnTo>
                    <a:pt x="1807" y="2104"/>
                  </a:lnTo>
                  <a:lnTo>
                    <a:pt x="1" y="3971"/>
                  </a:lnTo>
                  <a:lnTo>
                    <a:pt x="2132" y="8254"/>
                  </a:lnTo>
                  <a:lnTo>
                    <a:pt x="3837" y="9614"/>
                  </a:lnTo>
                  <a:lnTo>
                    <a:pt x="9967" y="7564"/>
                  </a:lnTo>
                  <a:cubicBezTo>
                    <a:pt x="12463" y="6732"/>
                    <a:pt x="14249" y="4540"/>
                    <a:pt x="14574" y="1921"/>
                  </a:cubicBezTo>
                  <a:cubicBezTo>
                    <a:pt x="14702" y="879"/>
                    <a:pt x="13874" y="1"/>
                    <a:pt x="12878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" name="Google Shape;379;p39"/>
            <p:cNvSpPr/>
            <p:nvPr/>
          </p:nvSpPr>
          <p:spPr>
            <a:xfrm>
              <a:off x="1148040" y="2812680"/>
              <a:ext cx="918360" cy="847800"/>
            </a:xfrm>
            <a:custGeom>
              <a:avLst/>
              <a:gdLst>
                <a:gd name="textAreaLeft" fmla="*/ 0 w 918360"/>
                <a:gd name="textAreaRight" fmla="*/ 918720 w 918360"/>
                <a:gd name="textAreaTop" fmla="*/ 0 h 847800"/>
                <a:gd name="textAreaBottom" fmla="*/ 848160 h 847800"/>
              </a:gdLst>
              <a:ahLst/>
              <a:cxnLst/>
              <a:rect l="textAreaLeft" t="textAreaTop" r="textAreaRight" b="textAreaBottom"/>
              <a:pathLst>
                <a:path w="24013" h="22166">
                  <a:moveTo>
                    <a:pt x="19202" y="1"/>
                  </a:moveTo>
                  <a:lnTo>
                    <a:pt x="1" y="10068"/>
                  </a:lnTo>
                  <a:lnTo>
                    <a:pt x="6841" y="22166"/>
                  </a:lnTo>
                  <a:cubicBezTo>
                    <a:pt x="6841" y="22166"/>
                    <a:pt x="23628" y="8728"/>
                    <a:pt x="23728" y="8728"/>
                  </a:cubicBezTo>
                  <a:cubicBezTo>
                    <a:pt x="23728" y="8728"/>
                    <a:pt x="23729" y="8728"/>
                    <a:pt x="23729" y="8729"/>
                  </a:cubicBezTo>
                  <a:cubicBezTo>
                    <a:pt x="23729" y="8730"/>
                    <a:pt x="23729" y="8731"/>
                    <a:pt x="23729" y="8731"/>
                  </a:cubicBezTo>
                  <a:cubicBezTo>
                    <a:pt x="23741" y="8731"/>
                    <a:pt x="24013" y="6942"/>
                    <a:pt x="24013" y="6942"/>
                  </a:cubicBezTo>
                  <a:lnTo>
                    <a:pt x="2044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" name="Google Shape;380;p39"/>
            <p:cNvSpPr/>
            <p:nvPr/>
          </p:nvSpPr>
          <p:spPr>
            <a:xfrm>
              <a:off x="1970640" y="2596320"/>
              <a:ext cx="572040" cy="495720"/>
            </a:xfrm>
            <a:custGeom>
              <a:avLst/>
              <a:gdLst>
                <a:gd name="textAreaLeft" fmla="*/ 0 w 572040"/>
                <a:gd name="textAreaRight" fmla="*/ 572400 w 572040"/>
                <a:gd name="textAreaTop" fmla="*/ 0 h 495720"/>
                <a:gd name="textAreaBottom" fmla="*/ 496080 h 495720"/>
              </a:gdLst>
              <a:ahLst/>
              <a:cxnLst/>
              <a:rect l="textAreaLeft" t="textAreaTop" r="textAreaRight" b="textAreaBottom"/>
              <a:pathLst>
                <a:path w="14961" h="12964">
                  <a:moveTo>
                    <a:pt x="10957" y="1"/>
                  </a:moveTo>
                  <a:cubicBezTo>
                    <a:pt x="7302" y="1"/>
                    <a:pt x="1" y="4175"/>
                    <a:pt x="1" y="4175"/>
                  </a:cubicBezTo>
                  <a:lnTo>
                    <a:pt x="1" y="5657"/>
                  </a:lnTo>
                  <a:lnTo>
                    <a:pt x="3066" y="12071"/>
                  </a:lnTo>
                  <a:lnTo>
                    <a:pt x="4629" y="12964"/>
                  </a:lnTo>
                  <a:cubicBezTo>
                    <a:pt x="4629" y="12964"/>
                    <a:pt x="10332" y="8803"/>
                    <a:pt x="11916" y="7098"/>
                  </a:cubicBezTo>
                  <a:cubicBezTo>
                    <a:pt x="13479" y="5413"/>
                    <a:pt x="14960" y="2084"/>
                    <a:pt x="12362" y="339"/>
                  </a:cubicBezTo>
                  <a:cubicBezTo>
                    <a:pt x="12011" y="103"/>
                    <a:pt x="11528" y="1"/>
                    <a:pt x="10957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" name="Google Shape;381;p39"/>
            <p:cNvSpPr/>
            <p:nvPr/>
          </p:nvSpPr>
          <p:spPr>
            <a:xfrm>
              <a:off x="1319760" y="2705400"/>
              <a:ext cx="1179360" cy="954720"/>
            </a:xfrm>
            <a:custGeom>
              <a:avLst/>
              <a:gdLst>
                <a:gd name="textAreaLeft" fmla="*/ 0 w 1179360"/>
                <a:gd name="textAreaRight" fmla="*/ 1179720 w 1179360"/>
                <a:gd name="textAreaTop" fmla="*/ 0 h 954720"/>
                <a:gd name="textAreaBottom" fmla="*/ 955080 h 954720"/>
              </a:gdLst>
              <a:ahLst/>
              <a:cxnLst/>
              <a:rect l="textAreaLeft" t="textAreaTop" r="textAreaRight" b="textAreaBottom"/>
              <a:pathLst>
                <a:path w="30833" h="24967">
                  <a:moveTo>
                    <a:pt x="30772" y="1"/>
                  </a:moveTo>
                  <a:lnTo>
                    <a:pt x="30772" y="1"/>
                  </a:lnTo>
                  <a:cubicBezTo>
                    <a:pt x="30163" y="1198"/>
                    <a:pt x="28965" y="3086"/>
                    <a:pt x="26976" y="4527"/>
                  </a:cubicBezTo>
                  <a:cubicBezTo>
                    <a:pt x="23850" y="6780"/>
                    <a:pt x="22389" y="7511"/>
                    <a:pt x="22389" y="7511"/>
                  </a:cubicBezTo>
                  <a:lnTo>
                    <a:pt x="21678" y="5664"/>
                  </a:lnTo>
                  <a:lnTo>
                    <a:pt x="16401" y="9317"/>
                  </a:lnTo>
                  <a:lnTo>
                    <a:pt x="17862" y="10596"/>
                  </a:lnTo>
                  <a:lnTo>
                    <a:pt x="5846" y="19385"/>
                  </a:lnTo>
                  <a:cubicBezTo>
                    <a:pt x="5846" y="19385"/>
                    <a:pt x="5197" y="17741"/>
                    <a:pt x="4547" y="16624"/>
                  </a:cubicBezTo>
                  <a:cubicBezTo>
                    <a:pt x="4515" y="16566"/>
                    <a:pt x="4461" y="16539"/>
                    <a:pt x="4388" y="16539"/>
                  </a:cubicBezTo>
                  <a:cubicBezTo>
                    <a:pt x="3770" y="16539"/>
                    <a:pt x="1780" y="18516"/>
                    <a:pt x="0" y="20785"/>
                  </a:cubicBezTo>
                  <a:lnTo>
                    <a:pt x="2355" y="24967"/>
                  </a:lnTo>
                  <a:cubicBezTo>
                    <a:pt x="2355" y="24967"/>
                    <a:pt x="19142" y="11529"/>
                    <a:pt x="19242" y="11529"/>
                  </a:cubicBezTo>
                  <a:cubicBezTo>
                    <a:pt x="19242" y="11529"/>
                    <a:pt x="19243" y="11529"/>
                    <a:pt x="19243" y="11530"/>
                  </a:cubicBezTo>
                  <a:cubicBezTo>
                    <a:pt x="19243" y="11531"/>
                    <a:pt x="19243" y="11532"/>
                    <a:pt x="19243" y="11532"/>
                  </a:cubicBezTo>
                  <a:cubicBezTo>
                    <a:pt x="19255" y="11532"/>
                    <a:pt x="19527" y="9743"/>
                    <a:pt x="19527" y="9743"/>
                  </a:cubicBezTo>
                  <a:lnTo>
                    <a:pt x="19466" y="9642"/>
                  </a:lnTo>
                  <a:cubicBezTo>
                    <a:pt x="19730" y="9540"/>
                    <a:pt x="19973" y="9419"/>
                    <a:pt x="20176" y="9277"/>
                  </a:cubicBezTo>
                  <a:lnTo>
                    <a:pt x="21638" y="10109"/>
                  </a:lnTo>
                  <a:cubicBezTo>
                    <a:pt x="21638" y="10109"/>
                    <a:pt x="27341" y="5948"/>
                    <a:pt x="28925" y="4243"/>
                  </a:cubicBezTo>
                  <a:cubicBezTo>
                    <a:pt x="29899" y="3208"/>
                    <a:pt x="30833" y="1543"/>
                    <a:pt x="30772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" name="Google Shape;382;p39"/>
            <p:cNvSpPr/>
            <p:nvPr/>
          </p:nvSpPr>
          <p:spPr>
            <a:xfrm>
              <a:off x="1397520" y="3120120"/>
              <a:ext cx="662760" cy="540000"/>
            </a:xfrm>
            <a:custGeom>
              <a:avLst/>
              <a:gdLst>
                <a:gd name="textAreaLeft" fmla="*/ 0 w 662760"/>
                <a:gd name="textAreaRight" fmla="*/ 663120 w 662760"/>
                <a:gd name="textAreaTop" fmla="*/ 0 h 540000"/>
                <a:gd name="textAreaBottom" fmla="*/ 540360 h 540000"/>
              </a:gdLst>
              <a:ahLst/>
              <a:cxnLst/>
              <a:rect l="textAreaLeft" t="textAreaTop" r="textAreaRight" b="textAreaBottom"/>
              <a:pathLst>
                <a:path w="17335" h="14128">
                  <a:moveTo>
                    <a:pt x="17334" y="0"/>
                  </a:moveTo>
                  <a:lnTo>
                    <a:pt x="0" y="13194"/>
                  </a:lnTo>
                  <a:lnTo>
                    <a:pt x="325" y="14128"/>
                  </a:lnTo>
                  <a:lnTo>
                    <a:pt x="17213" y="691"/>
                  </a:lnTo>
                  <a:lnTo>
                    <a:pt x="1733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" name="Google Shape;383;p39"/>
            <p:cNvSpPr/>
            <p:nvPr/>
          </p:nvSpPr>
          <p:spPr>
            <a:xfrm>
              <a:off x="1002240" y="3190320"/>
              <a:ext cx="514440" cy="514440"/>
            </a:xfrm>
            <a:custGeom>
              <a:avLst/>
              <a:gdLst>
                <a:gd name="textAreaLeft" fmla="*/ 0 w 514440"/>
                <a:gd name="textAreaRight" fmla="*/ 514800 w 514440"/>
                <a:gd name="textAreaTop" fmla="*/ 0 h 514440"/>
                <a:gd name="textAreaBottom" fmla="*/ 514800 h 514440"/>
              </a:gdLst>
              <a:ahLst/>
              <a:cxnLst/>
              <a:rect l="textAreaLeft" t="textAreaTop" r="textAreaRight" b="textAreaBottom"/>
              <a:pathLst>
                <a:path w="13459" h="13458">
                  <a:moveTo>
                    <a:pt x="6719" y="0"/>
                  </a:moveTo>
                  <a:cubicBezTo>
                    <a:pt x="3005" y="0"/>
                    <a:pt x="1" y="3004"/>
                    <a:pt x="1" y="6719"/>
                  </a:cubicBezTo>
                  <a:cubicBezTo>
                    <a:pt x="1" y="10433"/>
                    <a:pt x="3005" y="13458"/>
                    <a:pt x="6719" y="13458"/>
                  </a:cubicBezTo>
                  <a:cubicBezTo>
                    <a:pt x="10434" y="13458"/>
                    <a:pt x="13458" y="10433"/>
                    <a:pt x="13458" y="6719"/>
                  </a:cubicBezTo>
                  <a:cubicBezTo>
                    <a:pt x="13458" y="3004"/>
                    <a:pt x="10434" y="0"/>
                    <a:pt x="6719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" name="Google Shape;384;p39"/>
            <p:cNvSpPr/>
            <p:nvPr/>
          </p:nvSpPr>
          <p:spPr>
            <a:xfrm>
              <a:off x="1884240" y="2815920"/>
              <a:ext cx="266760" cy="266760"/>
            </a:xfrm>
            <a:custGeom>
              <a:avLst/>
              <a:gdLst>
                <a:gd name="textAreaLeft" fmla="*/ 0 w 266760"/>
                <a:gd name="textAreaRight" fmla="*/ 267120 w 266760"/>
                <a:gd name="textAreaTop" fmla="*/ 0 h 266760"/>
                <a:gd name="textAreaBottom" fmla="*/ 267120 h 266760"/>
              </a:gdLst>
              <a:ahLst/>
              <a:cxnLst/>
              <a:rect l="textAreaLeft" t="textAreaTop" r="textAreaRight" b="textAreaBottom"/>
              <a:pathLst>
                <a:path w="6984" h="6984">
                  <a:moveTo>
                    <a:pt x="3492" y="1"/>
                  </a:moveTo>
                  <a:cubicBezTo>
                    <a:pt x="1564" y="1"/>
                    <a:pt x="1" y="1564"/>
                    <a:pt x="1" y="3492"/>
                  </a:cubicBezTo>
                  <a:cubicBezTo>
                    <a:pt x="1" y="5420"/>
                    <a:pt x="1564" y="6983"/>
                    <a:pt x="3492" y="6983"/>
                  </a:cubicBezTo>
                  <a:cubicBezTo>
                    <a:pt x="5420" y="6983"/>
                    <a:pt x="6983" y="5420"/>
                    <a:pt x="6983" y="3492"/>
                  </a:cubicBezTo>
                  <a:cubicBezTo>
                    <a:pt x="6983" y="1564"/>
                    <a:pt x="5420" y="1"/>
                    <a:pt x="3492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" name="Google Shape;385;p39"/>
            <p:cNvSpPr/>
            <p:nvPr/>
          </p:nvSpPr>
          <p:spPr>
            <a:xfrm>
              <a:off x="1908360" y="2829960"/>
              <a:ext cx="228600" cy="182880"/>
            </a:xfrm>
            <a:custGeom>
              <a:avLst/>
              <a:gdLst>
                <a:gd name="textAreaLeft" fmla="*/ 0 w 228600"/>
                <a:gd name="textAreaRight" fmla="*/ 228960 w 228600"/>
                <a:gd name="textAreaTop" fmla="*/ 0 h 182880"/>
                <a:gd name="textAreaBottom" fmla="*/ 183240 h 182880"/>
              </a:gdLst>
              <a:ahLst/>
              <a:cxnLst/>
              <a:rect l="textAreaLeft" t="textAreaTop" r="textAreaRight" b="textAreaBottom"/>
              <a:pathLst>
                <a:path w="5988" h="4791">
                  <a:moveTo>
                    <a:pt x="2862" y="0"/>
                  </a:moveTo>
                  <a:cubicBezTo>
                    <a:pt x="1583" y="0"/>
                    <a:pt x="467" y="772"/>
                    <a:pt x="0" y="1888"/>
                  </a:cubicBezTo>
                  <a:cubicBezTo>
                    <a:pt x="548" y="1015"/>
                    <a:pt x="1522" y="426"/>
                    <a:pt x="2639" y="426"/>
                  </a:cubicBezTo>
                  <a:cubicBezTo>
                    <a:pt x="4364" y="426"/>
                    <a:pt x="5765" y="1827"/>
                    <a:pt x="5765" y="3552"/>
                  </a:cubicBezTo>
                  <a:cubicBezTo>
                    <a:pt x="5765" y="3999"/>
                    <a:pt x="5663" y="4405"/>
                    <a:pt x="5501" y="4790"/>
                  </a:cubicBezTo>
                  <a:cubicBezTo>
                    <a:pt x="5805" y="4303"/>
                    <a:pt x="5988" y="3735"/>
                    <a:pt x="5988" y="3126"/>
                  </a:cubicBezTo>
                  <a:cubicBezTo>
                    <a:pt x="5988" y="1401"/>
                    <a:pt x="4587" y="0"/>
                    <a:pt x="2862" y="0"/>
                  </a:cubicBezTo>
                  <a:close/>
                </a:path>
              </a:pathLst>
            </a:custGeom>
            <a:solidFill>
              <a:srgbClr val="728AC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4" name="Google Shape;386;p39"/>
            <p:cNvSpPr/>
            <p:nvPr/>
          </p:nvSpPr>
          <p:spPr>
            <a:xfrm>
              <a:off x="1054800" y="3222720"/>
              <a:ext cx="427680" cy="342000"/>
            </a:xfrm>
            <a:custGeom>
              <a:avLst/>
              <a:gdLst>
                <a:gd name="textAreaLeft" fmla="*/ 0 w 427680"/>
                <a:gd name="textAreaRight" fmla="*/ 428040 w 427680"/>
                <a:gd name="textAreaTop" fmla="*/ 0 h 342000"/>
                <a:gd name="textAreaBottom" fmla="*/ 342360 h 342000"/>
              </a:gdLst>
              <a:ahLst/>
              <a:cxnLst/>
              <a:rect l="textAreaLeft" t="textAreaTop" r="textAreaRight" b="textAreaBottom"/>
              <a:pathLst>
                <a:path w="11185" h="8952">
                  <a:moveTo>
                    <a:pt x="5360" y="1"/>
                  </a:moveTo>
                  <a:cubicBezTo>
                    <a:pt x="2964" y="1"/>
                    <a:pt x="894" y="1462"/>
                    <a:pt x="1" y="3533"/>
                  </a:cubicBezTo>
                  <a:cubicBezTo>
                    <a:pt x="1036" y="1909"/>
                    <a:pt x="2863" y="813"/>
                    <a:pt x="4933" y="813"/>
                  </a:cubicBezTo>
                  <a:cubicBezTo>
                    <a:pt x="8140" y="813"/>
                    <a:pt x="10759" y="3431"/>
                    <a:pt x="10759" y="6638"/>
                  </a:cubicBezTo>
                  <a:cubicBezTo>
                    <a:pt x="10759" y="7470"/>
                    <a:pt x="10596" y="8242"/>
                    <a:pt x="10292" y="8952"/>
                  </a:cubicBezTo>
                  <a:cubicBezTo>
                    <a:pt x="10860" y="8059"/>
                    <a:pt x="11185" y="6983"/>
                    <a:pt x="11185" y="5846"/>
                  </a:cubicBezTo>
                  <a:cubicBezTo>
                    <a:pt x="11185" y="2619"/>
                    <a:pt x="8587" y="1"/>
                    <a:pt x="536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" name="Google Shape;387;p39"/>
            <p:cNvSpPr/>
            <p:nvPr/>
          </p:nvSpPr>
          <p:spPr>
            <a:xfrm>
              <a:off x="678960" y="2938680"/>
              <a:ext cx="814320" cy="1063440"/>
            </a:xfrm>
            <a:custGeom>
              <a:avLst/>
              <a:gdLst>
                <a:gd name="textAreaLeft" fmla="*/ 0 w 814320"/>
                <a:gd name="textAreaRight" fmla="*/ 814680 w 814320"/>
                <a:gd name="textAreaTop" fmla="*/ 0 h 1063440"/>
                <a:gd name="textAreaBottom" fmla="*/ 1063800 h 1063440"/>
              </a:gdLst>
              <a:ahLst/>
              <a:cxnLst/>
              <a:rect l="textAreaLeft" t="textAreaTop" r="textAreaRight" b="textAreaBottom"/>
              <a:pathLst>
                <a:path w="21294" h="27809">
                  <a:moveTo>
                    <a:pt x="15813" y="1"/>
                  </a:moveTo>
                  <a:cubicBezTo>
                    <a:pt x="7105" y="1"/>
                    <a:pt x="1" y="7085"/>
                    <a:pt x="1" y="15813"/>
                  </a:cubicBezTo>
                  <a:cubicBezTo>
                    <a:pt x="1" y="20603"/>
                    <a:pt x="2152" y="24886"/>
                    <a:pt x="5522" y="27809"/>
                  </a:cubicBezTo>
                  <a:cubicBezTo>
                    <a:pt x="5765" y="27727"/>
                    <a:pt x="6009" y="27626"/>
                    <a:pt x="6273" y="27545"/>
                  </a:cubicBezTo>
                  <a:cubicBezTo>
                    <a:pt x="2863" y="24764"/>
                    <a:pt x="691" y="20542"/>
                    <a:pt x="691" y="15813"/>
                  </a:cubicBezTo>
                  <a:cubicBezTo>
                    <a:pt x="691" y="7450"/>
                    <a:pt x="7470" y="671"/>
                    <a:pt x="15813" y="671"/>
                  </a:cubicBezTo>
                  <a:cubicBezTo>
                    <a:pt x="17761" y="671"/>
                    <a:pt x="19608" y="1036"/>
                    <a:pt x="21293" y="1706"/>
                  </a:cubicBezTo>
                  <a:lnTo>
                    <a:pt x="21253" y="1604"/>
                  </a:lnTo>
                  <a:lnTo>
                    <a:pt x="21171" y="935"/>
                  </a:lnTo>
                  <a:cubicBezTo>
                    <a:pt x="19507" y="326"/>
                    <a:pt x="17700" y="1"/>
                    <a:pt x="15813" y="1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" name="Google Shape;388;p39"/>
            <p:cNvSpPr/>
            <p:nvPr/>
          </p:nvSpPr>
          <p:spPr>
            <a:xfrm>
              <a:off x="72360" y="3889800"/>
              <a:ext cx="533160" cy="1223640"/>
            </a:xfrm>
            <a:custGeom>
              <a:avLst/>
              <a:gdLst>
                <a:gd name="textAreaLeft" fmla="*/ 0 w 533160"/>
                <a:gd name="textAreaRight" fmla="*/ 533520 w 533160"/>
                <a:gd name="textAreaTop" fmla="*/ 0 h 1223640"/>
                <a:gd name="textAreaBottom" fmla="*/ 1224000 h 1223640"/>
              </a:gdLst>
              <a:ahLst/>
              <a:cxnLst/>
              <a:rect l="textAreaLeft" t="textAreaTop" r="textAreaRight" b="textAreaBottom"/>
              <a:pathLst>
                <a:path w="13945" h="31990">
                  <a:moveTo>
                    <a:pt x="13945" y="0"/>
                  </a:moveTo>
                  <a:lnTo>
                    <a:pt x="0" y="31989"/>
                  </a:lnTo>
                </a:path>
              </a:pathLst>
            </a:custGeom>
            <a:solidFill>
              <a:srgbClr val="EDEDE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" name="Google Shape;389;p39"/>
            <p:cNvSpPr/>
            <p:nvPr/>
          </p:nvSpPr>
          <p:spPr>
            <a:xfrm>
              <a:off x="1366200" y="2044800"/>
              <a:ext cx="511560" cy="564840"/>
            </a:xfrm>
            <a:custGeom>
              <a:avLst/>
              <a:gdLst>
                <a:gd name="textAreaLeft" fmla="*/ 0 w 511560"/>
                <a:gd name="textAreaRight" fmla="*/ 511920 w 511560"/>
                <a:gd name="textAreaTop" fmla="*/ 0 h 564840"/>
                <a:gd name="textAreaBottom" fmla="*/ 565200 h 564840"/>
              </a:gdLst>
              <a:ahLst/>
              <a:cxnLst/>
              <a:rect l="textAreaLeft" t="textAreaTop" r="textAreaRight" b="textAreaBottom"/>
              <a:pathLst>
                <a:path w="13377" h="14777">
                  <a:moveTo>
                    <a:pt x="0" y="14777"/>
                  </a:moveTo>
                  <a:lnTo>
                    <a:pt x="13376" y="0"/>
                  </a:lnTo>
                </a:path>
              </a:pathLst>
            </a:custGeom>
            <a:solidFill>
              <a:srgbClr val="EDEDE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" name="Google Shape;390;p39"/>
            <p:cNvSpPr/>
            <p:nvPr/>
          </p:nvSpPr>
          <p:spPr>
            <a:xfrm>
              <a:off x="1908360" y="1700640"/>
              <a:ext cx="540000" cy="323640"/>
            </a:xfrm>
            <a:custGeom>
              <a:avLst/>
              <a:gdLst>
                <a:gd name="textAreaLeft" fmla="*/ 0 w 540000"/>
                <a:gd name="textAreaRight" fmla="*/ 540360 w 540000"/>
                <a:gd name="textAreaTop" fmla="*/ 0 h 323640"/>
                <a:gd name="textAreaBottom" fmla="*/ 324000 h 323640"/>
              </a:gdLst>
              <a:ahLst/>
              <a:cxnLst/>
              <a:rect l="textAreaLeft" t="textAreaTop" r="textAreaRight" b="textAreaBottom"/>
              <a:pathLst>
                <a:path w="14128" h="8465">
                  <a:moveTo>
                    <a:pt x="0" y="8465"/>
                  </a:moveTo>
                  <a:lnTo>
                    <a:pt x="14127" y="1"/>
                  </a:lnTo>
                </a:path>
              </a:pathLst>
            </a:custGeom>
            <a:solidFill>
              <a:srgbClr val="EDEDE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" name="Google Shape;391;p39"/>
            <p:cNvSpPr/>
            <p:nvPr/>
          </p:nvSpPr>
          <p:spPr>
            <a:xfrm>
              <a:off x="2467440" y="1515960"/>
              <a:ext cx="498240" cy="185400"/>
            </a:xfrm>
            <a:custGeom>
              <a:avLst/>
              <a:gdLst>
                <a:gd name="textAreaLeft" fmla="*/ 0 w 498240"/>
                <a:gd name="textAreaRight" fmla="*/ 498600 w 498240"/>
                <a:gd name="textAreaTop" fmla="*/ 0 h 185400"/>
                <a:gd name="textAreaBottom" fmla="*/ 185760 h 185400"/>
              </a:gdLst>
              <a:ahLst/>
              <a:cxnLst/>
              <a:rect l="textAreaLeft" t="textAreaTop" r="textAreaRight" b="textAreaBottom"/>
              <a:pathLst>
                <a:path w="13032" h="4852">
                  <a:moveTo>
                    <a:pt x="13031" y="1"/>
                  </a:moveTo>
                  <a:lnTo>
                    <a:pt x="0" y="4243"/>
                  </a:lnTo>
                  <a:lnTo>
                    <a:pt x="305" y="4852"/>
                  </a:lnTo>
                  <a:lnTo>
                    <a:pt x="12808" y="772"/>
                  </a:lnTo>
                  <a:cubicBezTo>
                    <a:pt x="12910" y="528"/>
                    <a:pt x="12971" y="265"/>
                    <a:pt x="13031" y="1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" name="Google Shape;392;p39"/>
            <p:cNvSpPr/>
            <p:nvPr/>
          </p:nvSpPr>
          <p:spPr>
            <a:xfrm>
              <a:off x="241920" y="3948840"/>
              <a:ext cx="551160" cy="1380600"/>
            </a:xfrm>
            <a:custGeom>
              <a:avLst/>
              <a:gdLst>
                <a:gd name="textAreaLeft" fmla="*/ 0 w 551160"/>
                <a:gd name="textAreaRight" fmla="*/ 551520 w 551160"/>
                <a:gd name="textAreaTop" fmla="*/ 0 h 1380600"/>
                <a:gd name="textAreaBottom" fmla="*/ 1380960 h 1380600"/>
              </a:gdLst>
              <a:ahLst/>
              <a:cxnLst/>
              <a:rect l="textAreaLeft" t="textAreaTop" r="textAreaRight" b="textAreaBottom"/>
              <a:pathLst>
                <a:path w="14412" h="36090">
                  <a:moveTo>
                    <a:pt x="11428" y="0"/>
                  </a:moveTo>
                  <a:lnTo>
                    <a:pt x="0" y="33735"/>
                  </a:lnTo>
                  <a:lnTo>
                    <a:pt x="6394" y="36089"/>
                  </a:lnTo>
                  <a:lnTo>
                    <a:pt x="14412" y="2375"/>
                  </a:lnTo>
                  <a:lnTo>
                    <a:pt x="11428" y="0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" name="Google Shape;393;p39"/>
            <p:cNvSpPr/>
            <p:nvPr/>
          </p:nvSpPr>
          <p:spPr>
            <a:xfrm>
              <a:off x="2237760" y="3016800"/>
              <a:ext cx="474840" cy="496800"/>
            </a:xfrm>
            <a:custGeom>
              <a:avLst/>
              <a:gdLst>
                <a:gd name="textAreaLeft" fmla="*/ 0 w 474840"/>
                <a:gd name="textAreaRight" fmla="*/ 475200 w 474840"/>
                <a:gd name="textAreaTop" fmla="*/ 0 h 496800"/>
                <a:gd name="textAreaBottom" fmla="*/ 497160 h 496800"/>
              </a:gdLst>
              <a:ahLst/>
              <a:cxnLst/>
              <a:rect l="textAreaLeft" t="textAreaTop" r="textAreaRight" b="textAreaBottom"/>
              <a:pathLst>
                <a:path w="12423" h="12992">
                  <a:moveTo>
                    <a:pt x="11286" y="1"/>
                  </a:moveTo>
                  <a:lnTo>
                    <a:pt x="0" y="12991"/>
                  </a:lnTo>
                  <a:cubicBezTo>
                    <a:pt x="3025" y="11286"/>
                    <a:pt x="12422" y="2457"/>
                    <a:pt x="12422" y="2457"/>
                  </a:cubicBezTo>
                  <a:lnTo>
                    <a:pt x="1128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" name="Google Shape;394;p39"/>
            <p:cNvSpPr/>
            <p:nvPr/>
          </p:nvSpPr>
          <p:spPr>
            <a:xfrm>
              <a:off x="2114280" y="2987640"/>
              <a:ext cx="434520" cy="260280"/>
            </a:xfrm>
            <a:custGeom>
              <a:avLst/>
              <a:gdLst>
                <a:gd name="textAreaLeft" fmla="*/ 0 w 434520"/>
                <a:gd name="textAreaRight" fmla="*/ 434880 w 434520"/>
                <a:gd name="textAreaTop" fmla="*/ 0 h 260280"/>
                <a:gd name="textAreaBottom" fmla="*/ 260640 h 260280"/>
              </a:gdLst>
              <a:ahLst/>
              <a:cxnLst/>
              <a:rect l="textAreaLeft" t="textAreaTop" r="textAreaRight" b="textAreaBottom"/>
              <a:pathLst>
                <a:path w="11368" h="6808">
                  <a:moveTo>
                    <a:pt x="11368" y="1"/>
                  </a:moveTo>
                  <a:lnTo>
                    <a:pt x="1" y="5176"/>
                  </a:lnTo>
                  <a:cubicBezTo>
                    <a:pt x="298" y="6128"/>
                    <a:pt x="835" y="6807"/>
                    <a:pt x="1437" y="6807"/>
                  </a:cubicBezTo>
                  <a:cubicBezTo>
                    <a:pt x="1656" y="6807"/>
                    <a:pt x="1884" y="6717"/>
                    <a:pt x="2112" y="6516"/>
                  </a:cubicBezTo>
                  <a:cubicBezTo>
                    <a:pt x="3512" y="5319"/>
                    <a:pt x="9724" y="934"/>
                    <a:pt x="1136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" name="Google Shape;395;p39"/>
            <p:cNvSpPr/>
            <p:nvPr/>
          </p:nvSpPr>
          <p:spPr>
            <a:xfrm>
              <a:off x="2497680" y="2568240"/>
              <a:ext cx="139320" cy="310320"/>
            </a:xfrm>
            <a:custGeom>
              <a:avLst/>
              <a:gdLst>
                <a:gd name="textAreaLeft" fmla="*/ 0 w 139320"/>
                <a:gd name="textAreaRight" fmla="*/ 139680 w 139320"/>
                <a:gd name="textAreaTop" fmla="*/ 0 h 310320"/>
                <a:gd name="textAreaBottom" fmla="*/ 310680 h 310320"/>
              </a:gdLst>
              <a:ahLst/>
              <a:cxnLst/>
              <a:rect l="textAreaLeft" t="textAreaTop" r="textAreaRight" b="textAreaBottom"/>
              <a:pathLst>
                <a:path w="3655" h="8120">
                  <a:moveTo>
                    <a:pt x="1" y="1"/>
                  </a:moveTo>
                  <a:lnTo>
                    <a:pt x="1625" y="1747"/>
                  </a:lnTo>
                  <a:lnTo>
                    <a:pt x="2741" y="5684"/>
                  </a:lnTo>
                  <a:lnTo>
                    <a:pt x="1726" y="8120"/>
                  </a:lnTo>
                  <a:lnTo>
                    <a:pt x="3655" y="6395"/>
                  </a:lnTo>
                  <a:lnTo>
                    <a:pt x="2416" y="140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" name="Google Shape;396;p39"/>
            <p:cNvSpPr/>
            <p:nvPr/>
          </p:nvSpPr>
          <p:spPr>
            <a:xfrm>
              <a:off x="1962000" y="1738080"/>
              <a:ext cx="506880" cy="368640"/>
            </a:xfrm>
            <a:custGeom>
              <a:avLst/>
              <a:gdLst>
                <a:gd name="textAreaLeft" fmla="*/ 0 w 506880"/>
                <a:gd name="textAreaRight" fmla="*/ 507240 w 506880"/>
                <a:gd name="textAreaTop" fmla="*/ 0 h 368640"/>
                <a:gd name="textAreaBottom" fmla="*/ 369000 h 368640"/>
              </a:gdLst>
              <a:ahLst/>
              <a:cxnLst/>
              <a:rect l="textAreaLeft" t="textAreaTop" r="textAreaRight" b="textAreaBottom"/>
              <a:pathLst>
                <a:path w="13255" h="9643">
                  <a:moveTo>
                    <a:pt x="13255" y="1"/>
                  </a:moveTo>
                  <a:lnTo>
                    <a:pt x="1" y="9236"/>
                  </a:lnTo>
                  <a:lnTo>
                    <a:pt x="2375" y="9642"/>
                  </a:lnTo>
                  <a:lnTo>
                    <a:pt x="12971" y="2477"/>
                  </a:lnTo>
                  <a:lnTo>
                    <a:pt x="13255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" name="Google Shape;397;p39"/>
            <p:cNvSpPr/>
            <p:nvPr/>
          </p:nvSpPr>
          <p:spPr>
            <a:xfrm>
              <a:off x="1453320" y="2110680"/>
              <a:ext cx="476640" cy="582120"/>
            </a:xfrm>
            <a:custGeom>
              <a:avLst/>
              <a:gdLst>
                <a:gd name="textAreaLeft" fmla="*/ 0 w 476640"/>
                <a:gd name="textAreaRight" fmla="*/ 477000 w 476640"/>
                <a:gd name="textAreaTop" fmla="*/ 0 h 582120"/>
                <a:gd name="textAreaBottom" fmla="*/ 582480 h 582120"/>
              </a:gdLst>
              <a:ahLst/>
              <a:cxnLst/>
              <a:rect l="textAreaLeft" t="textAreaTop" r="textAreaRight" b="textAreaBottom"/>
              <a:pathLst>
                <a:path w="12464" h="15224">
                  <a:moveTo>
                    <a:pt x="12463" y="1"/>
                  </a:moveTo>
                  <a:lnTo>
                    <a:pt x="1" y="15224"/>
                  </a:lnTo>
                  <a:lnTo>
                    <a:pt x="1300" y="15224"/>
                  </a:lnTo>
                  <a:lnTo>
                    <a:pt x="12463" y="2700"/>
                  </a:lnTo>
                  <a:lnTo>
                    <a:pt x="12463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" name="Google Shape;398;p39"/>
            <p:cNvSpPr/>
            <p:nvPr/>
          </p:nvSpPr>
          <p:spPr>
            <a:xfrm>
              <a:off x="2494800" y="1577880"/>
              <a:ext cx="449280" cy="207000"/>
            </a:xfrm>
            <a:custGeom>
              <a:avLst/>
              <a:gdLst>
                <a:gd name="textAreaLeft" fmla="*/ 0 w 449280"/>
                <a:gd name="textAreaRight" fmla="*/ 449640 w 449280"/>
                <a:gd name="textAreaTop" fmla="*/ 0 h 207000"/>
                <a:gd name="textAreaBottom" fmla="*/ 207360 h 207000"/>
              </a:gdLst>
              <a:ahLst/>
              <a:cxnLst/>
              <a:rect l="textAreaLeft" t="textAreaTop" r="textAreaRight" b="textAreaBottom"/>
              <a:pathLst>
                <a:path w="11754" h="5420">
                  <a:moveTo>
                    <a:pt x="11753" y="0"/>
                  </a:moveTo>
                  <a:lnTo>
                    <a:pt x="11753" y="0"/>
                  </a:lnTo>
                  <a:cubicBezTo>
                    <a:pt x="11733" y="0"/>
                    <a:pt x="9784" y="995"/>
                    <a:pt x="7206" y="1929"/>
                  </a:cubicBezTo>
                  <a:cubicBezTo>
                    <a:pt x="4629" y="2842"/>
                    <a:pt x="1" y="4060"/>
                    <a:pt x="1" y="4060"/>
                  </a:cubicBezTo>
                  <a:lnTo>
                    <a:pt x="1706" y="5420"/>
                  </a:lnTo>
                  <a:lnTo>
                    <a:pt x="7836" y="3370"/>
                  </a:lnTo>
                  <a:cubicBezTo>
                    <a:pt x="9561" y="2802"/>
                    <a:pt x="10941" y="1563"/>
                    <a:pt x="11753" y="0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" name="Google Shape;399;p39"/>
            <p:cNvSpPr/>
            <p:nvPr/>
          </p:nvSpPr>
          <p:spPr>
            <a:xfrm>
              <a:off x="2431080" y="3092400"/>
              <a:ext cx="281520" cy="271440"/>
            </a:xfrm>
            <a:custGeom>
              <a:avLst/>
              <a:gdLst>
                <a:gd name="textAreaLeft" fmla="*/ 0 w 281520"/>
                <a:gd name="textAreaRight" fmla="*/ 281880 w 281520"/>
                <a:gd name="textAreaTop" fmla="*/ 0 h 271440"/>
                <a:gd name="textAreaBottom" fmla="*/ 271800 h 271440"/>
              </a:gdLst>
              <a:ahLst/>
              <a:cxnLst/>
              <a:rect l="textAreaLeft" t="textAreaTop" r="textAreaRight" b="textAreaBottom"/>
              <a:pathLst>
                <a:path w="7369" h="7105">
                  <a:moveTo>
                    <a:pt x="7145" y="1"/>
                  </a:moveTo>
                  <a:lnTo>
                    <a:pt x="0" y="7105"/>
                  </a:lnTo>
                  <a:cubicBezTo>
                    <a:pt x="3552" y="4060"/>
                    <a:pt x="7368" y="488"/>
                    <a:pt x="7368" y="488"/>
                  </a:cubicBezTo>
                  <a:lnTo>
                    <a:pt x="714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" name="Google Shape;400;p39"/>
            <p:cNvSpPr/>
            <p:nvPr/>
          </p:nvSpPr>
          <p:spPr>
            <a:xfrm>
              <a:off x="2739240" y="2964960"/>
              <a:ext cx="30600" cy="106200"/>
            </a:xfrm>
            <a:custGeom>
              <a:avLst/>
              <a:gdLst>
                <a:gd name="textAreaLeft" fmla="*/ 0 w 30600"/>
                <a:gd name="textAreaRight" fmla="*/ 30960 w 30600"/>
                <a:gd name="textAreaTop" fmla="*/ 0 h 106200"/>
                <a:gd name="textAreaBottom" fmla="*/ 106560 h 106200"/>
              </a:gdLst>
              <a:ahLst/>
              <a:cxnLst/>
              <a:rect l="textAreaLeft" t="textAreaTop" r="textAreaRight" b="textAreaBottom"/>
              <a:pathLst>
                <a:path w="813" h="2782">
                  <a:moveTo>
                    <a:pt x="264" y="1"/>
                  </a:moveTo>
                  <a:lnTo>
                    <a:pt x="1" y="143"/>
                  </a:lnTo>
                  <a:cubicBezTo>
                    <a:pt x="346" y="590"/>
                    <a:pt x="569" y="1158"/>
                    <a:pt x="569" y="1767"/>
                  </a:cubicBezTo>
                  <a:cubicBezTo>
                    <a:pt x="569" y="2132"/>
                    <a:pt x="488" y="2477"/>
                    <a:pt x="366" y="2782"/>
                  </a:cubicBezTo>
                  <a:cubicBezTo>
                    <a:pt x="650" y="2416"/>
                    <a:pt x="812" y="1950"/>
                    <a:pt x="812" y="1442"/>
                  </a:cubicBezTo>
                  <a:cubicBezTo>
                    <a:pt x="812" y="894"/>
                    <a:pt x="609" y="387"/>
                    <a:pt x="264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3280" bIns="53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" name="Google Shape;401;p39"/>
            <p:cNvSpPr/>
            <p:nvPr/>
          </p:nvSpPr>
          <p:spPr>
            <a:xfrm>
              <a:off x="2482200" y="1417680"/>
              <a:ext cx="478800" cy="80280"/>
            </a:xfrm>
            <a:custGeom>
              <a:avLst/>
              <a:gdLst>
                <a:gd name="textAreaLeft" fmla="*/ 0 w 478800"/>
                <a:gd name="textAreaRight" fmla="*/ 479160 w 478800"/>
                <a:gd name="textAreaTop" fmla="*/ 0 h 80280"/>
                <a:gd name="textAreaBottom" fmla="*/ 80640 h 80280"/>
              </a:gdLst>
              <a:ahLst/>
              <a:cxnLst/>
              <a:rect l="textAreaLeft" t="textAreaTop" r="textAreaRight" b="textAreaBottom"/>
              <a:pathLst>
                <a:path w="12524" h="2103">
                  <a:moveTo>
                    <a:pt x="11066" y="1"/>
                  </a:moveTo>
                  <a:cubicBezTo>
                    <a:pt x="10958" y="1"/>
                    <a:pt x="10848" y="11"/>
                    <a:pt x="10737" y="32"/>
                  </a:cubicBezTo>
                  <a:lnTo>
                    <a:pt x="0" y="2103"/>
                  </a:lnTo>
                  <a:lnTo>
                    <a:pt x="0" y="2103"/>
                  </a:lnTo>
                  <a:lnTo>
                    <a:pt x="12524" y="824"/>
                  </a:lnTo>
                  <a:cubicBezTo>
                    <a:pt x="12214" y="325"/>
                    <a:pt x="11670" y="1"/>
                    <a:pt x="1106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" name="Google Shape;402;p39"/>
            <p:cNvSpPr/>
            <p:nvPr/>
          </p:nvSpPr>
          <p:spPr>
            <a:xfrm>
              <a:off x="1809000" y="1558440"/>
              <a:ext cx="573480" cy="343080"/>
            </a:xfrm>
            <a:custGeom>
              <a:avLst/>
              <a:gdLst>
                <a:gd name="textAreaLeft" fmla="*/ 0 w 573480"/>
                <a:gd name="textAreaRight" fmla="*/ 573840 w 573480"/>
                <a:gd name="textAreaTop" fmla="*/ 0 h 343080"/>
                <a:gd name="textAreaBottom" fmla="*/ 343440 h 343080"/>
              </a:gdLst>
              <a:ahLst/>
              <a:cxnLst/>
              <a:rect l="textAreaLeft" t="textAreaTop" r="textAreaRight" b="textAreaBottom"/>
              <a:pathLst>
                <a:path w="15001" h="8972">
                  <a:moveTo>
                    <a:pt x="12971" y="0"/>
                  </a:moveTo>
                  <a:lnTo>
                    <a:pt x="630" y="6658"/>
                  </a:lnTo>
                  <a:lnTo>
                    <a:pt x="1" y="8972"/>
                  </a:lnTo>
                  <a:lnTo>
                    <a:pt x="996" y="7165"/>
                  </a:lnTo>
                  <a:lnTo>
                    <a:pt x="12586" y="1116"/>
                  </a:lnTo>
                  <a:lnTo>
                    <a:pt x="15001" y="568"/>
                  </a:lnTo>
                  <a:lnTo>
                    <a:pt x="12971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" name="Google Shape;403;p39"/>
            <p:cNvSpPr/>
            <p:nvPr/>
          </p:nvSpPr>
          <p:spPr>
            <a:xfrm>
              <a:off x="1215720" y="1918080"/>
              <a:ext cx="565200" cy="574560"/>
            </a:xfrm>
            <a:custGeom>
              <a:avLst/>
              <a:gdLst>
                <a:gd name="textAreaLeft" fmla="*/ 0 w 565200"/>
                <a:gd name="textAreaRight" fmla="*/ 565560 w 565200"/>
                <a:gd name="textAreaTop" fmla="*/ 0 h 574560"/>
                <a:gd name="textAreaBottom" fmla="*/ 574920 h 574560"/>
              </a:gdLst>
              <a:ahLst/>
              <a:cxnLst/>
              <a:rect l="textAreaLeft" t="textAreaTop" r="textAreaRight" b="textAreaBottom"/>
              <a:pathLst>
                <a:path w="14778" h="15022">
                  <a:moveTo>
                    <a:pt x="14777" y="1"/>
                  </a:moveTo>
                  <a:lnTo>
                    <a:pt x="12220" y="224"/>
                  </a:lnTo>
                  <a:lnTo>
                    <a:pt x="1" y="10454"/>
                  </a:lnTo>
                  <a:lnTo>
                    <a:pt x="731" y="15021"/>
                  </a:lnTo>
                  <a:lnTo>
                    <a:pt x="1198" y="10901"/>
                  </a:lnTo>
                  <a:lnTo>
                    <a:pt x="12382" y="1198"/>
                  </a:lnTo>
                  <a:lnTo>
                    <a:pt x="1477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" name="Google Shape;404;p39"/>
            <p:cNvSpPr/>
            <p:nvPr/>
          </p:nvSpPr>
          <p:spPr>
            <a:xfrm>
              <a:off x="727200" y="2481120"/>
              <a:ext cx="478800" cy="404280"/>
            </a:xfrm>
            <a:custGeom>
              <a:avLst/>
              <a:gdLst>
                <a:gd name="textAreaLeft" fmla="*/ 0 w 478800"/>
                <a:gd name="textAreaRight" fmla="*/ 479160 w 478800"/>
                <a:gd name="textAreaTop" fmla="*/ 0 h 404280"/>
                <a:gd name="textAreaBottom" fmla="*/ 404640 h 404280"/>
              </a:gdLst>
              <a:ahLst/>
              <a:cxnLst/>
              <a:rect l="textAreaLeft" t="textAreaTop" r="textAreaRight" b="textAreaBottom"/>
              <a:pathLst>
                <a:path w="12525" h="10572">
                  <a:moveTo>
                    <a:pt x="8238" y="0"/>
                  </a:moveTo>
                  <a:cubicBezTo>
                    <a:pt x="8024" y="0"/>
                    <a:pt x="7832" y="24"/>
                    <a:pt x="7673" y="78"/>
                  </a:cubicBezTo>
                  <a:cubicBezTo>
                    <a:pt x="6130" y="606"/>
                    <a:pt x="4385" y="1275"/>
                    <a:pt x="3979" y="1742"/>
                  </a:cubicBezTo>
                  <a:cubicBezTo>
                    <a:pt x="3207" y="2574"/>
                    <a:pt x="3045" y="4949"/>
                    <a:pt x="1726" y="6634"/>
                  </a:cubicBezTo>
                  <a:cubicBezTo>
                    <a:pt x="1482" y="6959"/>
                    <a:pt x="853" y="7730"/>
                    <a:pt x="0" y="8785"/>
                  </a:cubicBezTo>
                  <a:lnTo>
                    <a:pt x="528" y="10572"/>
                  </a:lnTo>
                  <a:lnTo>
                    <a:pt x="1401" y="8664"/>
                  </a:lnTo>
                  <a:cubicBezTo>
                    <a:pt x="1401" y="8664"/>
                    <a:pt x="4080" y="6269"/>
                    <a:pt x="4364" y="4726"/>
                  </a:cubicBezTo>
                  <a:cubicBezTo>
                    <a:pt x="4649" y="3183"/>
                    <a:pt x="5095" y="2716"/>
                    <a:pt x="6902" y="1539"/>
                  </a:cubicBezTo>
                  <a:cubicBezTo>
                    <a:pt x="7619" y="1072"/>
                    <a:pt x="8654" y="931"/>
                    <a:pt x="9641" y="931"/>
                  </a:cubicBezTo>
                  <a:cubicBezTo>
                    <a:pt x="11138" y="931"/>
                    <a:pt x="12524" y="1255"/>
                    <a:pt x="12524" y="1255"/>
                  </a:cubicBezTo>
                  <a:cubicBezTo>
                    <a:pt x="12524" y="1255"/>
                    <a:pt x="9794" y="0"/>
                    <a:pt x="823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" name="Google Shape;405;p39"/>
            <p:cNvSpPr/>
            <p:nvPr/>
          </p:nvSpPr>
          <p:spPr>
            <a:xfrm>
              <a:off x="368280" y="2801880"/>
              <a:ext cx="378720" cy="452520"/>
            </a:xfrm>
            <a:custGeom>
              <a:avLst/>
              <a:gdLst>
                <a:gd name="textAreaLeft" fmla="*/ 0 w 378720"/>
                <a:gd name="textAreaRight" fmla="*/ 379080 w 378720"/>
                <a:gd name="textAreaTop" fmla="*/ 0 h 452520"/>
                <a:gd name="textAreaBottom" fmla="*/ 452880 h 452520"/>
              </a:gdLst>
              <a:ahLst/>
              <a:cxnLst/>
              <a:rect l="textAreaLeft" t="textAreaTop" r="textAreaRight" b="textAreaBottom"/>
              <a:pathLst>
                <a:path w="9907" h="11834">
                  <a:moveTo>
                    <a:pt x="9703" y="0"/>
                  </a:moveTo>
                  <a:cubicBezTo>
                    <a:pt x="9520" y="203"/>
                    <a:pt x="9338" y="447"/>
                    <a:pt x="9135" y="691"/>
                  </a:cubicBezTo>
                  <a:cubicBezTo>
                    <a:pt x="9196" y="1117"/>
                    <a:pt x="9236" y="1563"/>
                    <a:pt x="9236" y="2010"/>
                  </a:cubicBezTo>
                  <a:cubicBezTo>
                    <a:pt x="9236" y="6902"/>
                    <a:pt x="5380" y="10900"/>
                    <a:pt x="569" y="11144"/>
                  </a:cubicBezTo>
                  <a:cubicBezTo>
                    <a:pt x="366" y="11387"/>
                    <a:pt x="184" y="11611"/>
                    <a:pt x="1" y="11834"/>
                  </a:cubicBezTo>
                  <a:lnTo>
                    <a:pt x="82" y="11834"/>
                  </a:lnTo>
                  <a:cubicBezTo>
                    <a:pt x="5502" y="11834"/>
                    <a:pt x="9906" y="7429"/>
                    <a:pt x="9906" y="2010"/>
                  </a:cubicBezTo>
                  <a:cubicBezTo>
                    <a:pt x="9906" y="1320"/>
                    <a:pt x="9845" y="650"/>
                    <a:pt x="9703" y="0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" name="Google Shape;406;p39"/>
            <p:cNvSpPr/>
            <p:nvPr/>
          </p:nvSpPr>
          <p:spPr>
            <a:xfrm>
              <a:off x="641880" y="4009320"/>
              <a:ext cx="151200" cy="668160"/>
            </a:xfrm>
            <a:custGeom>
              <a:avLst/>
              <a:gdLst>
                <a:gd name="textAreaLeft" fmla="*/ 0 w 151200"/>
                <a:gd name="textAreaRight" fmla="*/ 151560 w 151200"/>
                <a:gd name="textAreaTop" fmla="*/ 0 h 668160"/>
                <a:gd name="textAreaBottom" fmla="*/ 668520 h 668160"/>
              </a:gdLst>
              <a:ahLst/>
              <a:cxnLst/>
              <a:rect l="textAreaLeft" t="textAreaTop" r="textAreaRight" b="textAreaBottom"/>
              <a:pathLst>
                <a:path w="3959" h="17477">
                  <a:moveTo>
                    <a:pt x="2984" y="0"/>
                  </a:moveTo>
                  <a:lnTo>
                    <a:pt x="1" y="17476"/>
                  </a:lnTo>
                  <a:lnTo>
                    <a:pt x="3959" y="792"/>
                  </a:lnTo>
                  <a:lnTo>
                    <a:pt x="298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" name="Google Shape;407;p39"/>
            <p:cNvSpPr/>
            <p:nvPr/>
          </p:nvSpPr>
          <p:spPr>
            <a:xfrm>
              <a:off x="776880" y="3972960"/>
              <a:ext cx="90720" cy="5400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54000"/>
                <a:gd name="textAreaBottom" fmla="*/ 54360 h 54000"/>
              </a:gdLst>
              <a:ahLst/>
              <a:cxnLst/>
              <a:rect l="textAreaLeft" t="textAreaTop" r="textAreaRight" b="textAreaBottom"/>
              <a:pathLst>
                <a:path w="2376" h="1422">
                  <a:moveTo>
                    <a:pt x="975" y="0"/>
                  </a:moveTo>
                  <a:lnTo>
                    <a:pt x="0" y="609"/>
                  </a:lnTo>
                  <a:lnTo>
                    <a:pt x="975" y="1421"/>
                  </a:lnTo>
                  <a:lnTo>
                    <a:pt x="2375" y="954"/>
                  </a:lnTo>
                  <a:lnTo>
                    <a:pt x="975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" name="Google Shape;408;p39"/>
            <p:cNvSpPr/>
            <p:nvPr/>
          </p:nvSpPr>
          <p:spPr>
            <a:xfrm>
              <a:off x="957960" y="2305800"/>
              <a:ext cx="200880" cy="155880"/>
            </a:xfrm>
            <a:custGeom>
              <a:avLst/>
              <a:gdLst>
                <a:gd name="textAreaLeft" fmla="*/ 0 w 200880"/>
                <a:gd name="textAreaRight" fmla="*/ 201240 w 200880"/>
                <a:gd name="textAreaTop" fmla="*/ 0 h 155880"/>
                <a:gd name="textAreaBottom" fmla="*/ 156240 h 155880"/>
              </a:gdLst>
              <a:ahLst/>
              <a:cxnLst/>
              <a:rect l="textAreaLeft" t="textAreaTop" r="textAreaRight" b="textAreaBottom"/>
              <a:pathLst>
                <a:path w="5258" h="4081">
                  <a:moveTo>
                    <a:pt x="4974" y="0"/>
                  </a:moveTo>
                  <a:cubicBezTo>
                    <a:pt x="2497" y="0"/>
                    <a:pt x="468" y="1746"/>
                    <a:pt x="1" y="4080"/>
                  </a:cubicBezTo>
                  <a:cubicBezTo>
                    <a:pt x="853" y="2192"/>
                    <a:pt x="2761" y="873"/>
                    <a:pt x="4974" y="873"/>
                  </a:cubicBezTo>
                  <a:lnTo>
                    <a:pt x="5055" y="873"/>
                  </a:lnTo>
                  <a:lnTo>
                    <a:pt x="5258" y="21"/>
                  </a:lnTo>
                  <a:cubicBezTo>
                    <a:pt x="5156" y="0"/>
                    <a:pt x="5075" y="0"/>
                    <a:pt x="497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" name="Google Shape;409;p39"/>
            <p:cNvSpPr/>
            <p:nvPr/>
          </p:nvSpPr>
          <p:spPr>
            <a:xfrm>
              <a:off x="241920" y="3272400"/>
              <a:ext cx="149400" cy="287640"/>
            </a:xfrm>
            <a:custGeom>
              <a:avLst/>
              <a:gdLst>
                <a:gd name="textAreaLeft" fmla="*/ 0 w 149400"/>
                <a:gd name="textAreaRight" fmla="*/ 149760 w 149400"/>
                <a:gd name="textAreaTop" fmla="*/ 0 h 287640"/>
                <a:gd name="textAreaBottom" fmla="*/ 288000 h 287640"/>
              </a:gdLst>
              <a:ahLst/>
              <a:cxnLst/>
              <a:rect l="textAreaLeft" t="textAreaTop" r="textAreaRight" b="textAreaBottom"/>
              <a:pathLst>
                <a:path w="3918" h="7532">
                  <a:moveTo>
                    <a:pt x="2923" y="1"/>
                  </a:moveTo>
                  <a:lnTo>
                    <a:pt x="0" y="3553"/>
                  </a:lnTo>
                  <a:lnTo>
                    <a:pt x="427" y="7531"/>
                  </a:lnTo>
                  <a:lnTo>
                    <a:pt x="873" y="3979"/>
                  </a:lnTo>
                  <a:lnTo>
                    <a:pt x="391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" name="Google Shape;410;p39"/>
            <p:cNvSpPr/>
            <p:nvPr/>
          </p:nvSpPr>
          <p:spPr>
            <a:xfrm>
              <a:off x="-717120" y="3543480"/>
              <a:ext cx="958680" cy="1345680"/>
            </a:xfrm>
            <a:custGeom>
              <a:avLst/>
              <a:gdLst>
                <a:gd name="textAreaLeft" fmla="*/ 0 w 958680"/>
                <a:gd name="textAreaRight" fmla="*/ 959040 w 958680"/>
                <a:gd name="textAreaTop" fmla="*/ 0 h 1345680"/>
                <a:gd name="textAreaBottom" fmla="*/ 1346040 h 1345680"/>
              </a:gdLst>
              <a:ahLst/>
              <a:cxnLst/>
              <a:rect l="textAreaLeft" t="textAreaTop" r="textAreaRight" b="textAreaBottom"/>
              <a:pathLst>
                <a:path w="25069" h="35177">
                  <a:moveTo>
                    <a:pt x="23242" y="1"/>
                  </a:moveTo>
                  <a:lnTo>
                    <a:pt x="1" y="35176"/>
                  </a:lnTo>
                  <a:lnTo>
                    <a:pt x="25068" y="1462"/>
                  </a:lnTo>
                  <a:lnTo>
                    <a:pt x="23242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" name="Google Shape;411;p39"/>
            <p:cNvSpPr/>
            <p:nvPr/>
          </p:nvSpPr>
          <p:spPr>
            <a:xfrm>
              <a:off x="1970640" y="2596320"/>
              <a:ext cx="489600" cy="216000"/>
            </a:xfrm>
            <a:custGeom>
              <a:avLst/>
              <a:gdLst>
                <a:gd name="textAreaLeft" fmla="*/ 0 w 489600"/>
                <a:gd name="textAreaRight" fmla="*/ 489960 w 489600"/>
                <a:gd name="textAreaTop" fmla="*/ 0 h 216000"/>
                <a:gd name="textAreaBottom" fmla="*/ 216360 h 216000"/>
              </a:gdLst>
              <a:ahLst/>
              <a:cxnLst/>
              <a:rect l="textAreaLeft" t="textAreaTop" r="textAreaRight" b="textAreaBottom"/>
              <a:pathLst>
                <a:path w="12809" h="5657">
                  <a:moveTo>
                    <a:pt x="10957" y="1"/>
                  </a:moveTo>
                  <a:cubicBezTo>
                    <a:pt x="7302" y="1"/>
                    <a:pt x="1" y="4175"/>
                    <a:pt x="1" y="4175"/>
                  </a:cubicBezTo>
                  <a:lnTo>
                    <a:pt x="1" y="5657"/>
                  </a:lnTo>
                  <a:cubicBezTo>
                    <a:pt x="1" y="5657"/>
                    <a:pt x="407" y="4621"/>
                    <a:pt x="549" y="4439"/>
                  </a:cubicBezTo>
                  <a:cubicBezTo>
                    <a:pt x="691" y="4256"/>
                    <a:pt x="4629" y="2754"/>
                    <a:pt x="7673" y="1414"/>
                  </a:cubicBezTo>
                  <a:cubicBezTo>
                    <a:pt x="9231" y="719"/>
                    <a:pt x="10538" y="549"/>
                    <a:pt x="11444" y="549"/>
                  </a:cubicBezTo>
                  <a:cubicBezTo>
                    <a:pt x="12310" y="549"/>
                    <a:pt x="12809" y="704"/>
                    <a:pt x="12809" y="704"/>
                  </a:cubicBezTo>
                  <a:cubicBezTo>
                    <a:pt x="12667" y="562"/>
                    <a:pt x="12525" y="460"/>
                    <a:pt x="12362" y="339"/>
                  </a:cubicBezTo>
                  <a:cubicBezTo>
                    <a:pt x="12011" y="103"/>
                    <a:pt x="11528" y="1"/>
                    <a:pt x="10957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" name="Google Shape;412;p39"/>
            <p:cNvSpPr/>
            <p:nvPr/>
          </p:nvSpPr>
          <p:spPr>
            <a:xfrm>
              <a:off x="1148040" y="2812680"/>
              <a:ext cx="790200" cy="384840"/>
            </a:xfrm>
            <a:custGeom>
              <a:avLst/>
              <a:gdLst>
                <a:gd name="textAreaLeft" fmla="*/ 0 w 790200"/>
                <a:gd name="textAreaRight" fmla="*/ 790560 w 790200"/>
                <a:gd name="textAreaTop" fmla="*/ 0 h 384840"/>
                <a:gd name="textAreaBottom" fmla="*/ 385200 h 384840"/>
              </a:gdLst>
              <a:ahLst/>
              <a:cxnLst/>
              <a:rect l="textAreaLeft" t="textAreaTop" r="textAreaRight" b="textAreaBottom"/>
              <a:pathLst>
                <a:path w="20664" h="10069">
                  <a:moveTo>
                    <a:pt x="19202" y="1"/>
                  </a:moveTo>
                  <a:lnTo>
                    <a:pt x="1" y="10068"/>
                  </a:lnTo>
                  <a:cubicBezTo>
                    <a:pt x="6" y="10068"/>
                    <a:pt x="11" y="10069"/>
                    <a:pt x="17" y="10069"/>
                  </a:cubicBezTo>
                  <a:cubicBezTo>
                    <a:pt x="1774" y="10069"/>
                    <a:pt x="19080" y="447"/>
                    <a:pt x="19080" y="447"/>
                  </a:cubicBezTo>
                  <a:lnTo>
                    <a:pt x="20664" y="447"/>
                  </a:lnTo>
                  <a:lnTo>
                    <a:pt x="20440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" name="Google Shape;413;p39"/>
            <p:cNvSpPr/>
            <p:nvPr/>
          </p:nvSpPr>
          <p:spPr>
            <a:xfrm>
              <a:off x="2033280" y="1800720"/>
              <a:ext cx="428400" cy="305640"/>
            </a:xfrm>
            <a:custGeom>
              <a:avLst/>
              <a:gdLst>
                <a:gd name="textAreaLeft" fmla="*/ 0 w 428400"/>
                <a:gd name="textAreaRight" fmla="*/ 428760 w 428400"/>
                <a:gd name="textAreaTop" fmla="*/ 0 h 305640"/>
                <a:gd name="textAreaBottom" fmla="*/ 306000 h 305640"/>
              </a:gdLst>
              <a:ahLst/>
              <a:cxnLst/>
              <a:rect l="textAreaLeft" t="textAreaTop" r="textAreaRight" b="textAreaBottom"/>
              <a:pathLst>
                <a:path w="11206" h="7999">
                  <a:moveTo>
                    <a:pt x="11205" y="1"/>
                  </a:moveTo>
                  <a:lnTo>
                    <a:pt x="11205" y="1"/>
                  </a:lnTo>
                  <a:cubicBezTo>
                    <a:pt x="11144" y="21"/>
                    <a:pt x="11104" y="21"/>
                    <a:pt x="11104" y="21"/>
                  </a:cubicBezTo>
                  <a:lnTo>
                    <a:pt x="1" y="7917"/>
                  </a:lnTo>
                  <a:lnTo>
                    <a:pt x="508" y="7998"/>
                  </a:lnTo>
                  <a:lnTo>
                    <a:pt x="11104" y="833"/>
                  </a:lnTo>
                  <a:lnTo>
                    <a:pt x="1120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" name="Google Shape;414;p39"/>
            <p:cNvSpPr/>
            <p:nvPr/>
          </p:nvSpPr>
          <p:spPr>
            <a:xfrm>
              <a:off x="1481400" y="2172240"/>
              <a:ext cx="448560" cy="520920"/>
            </a:xfrm>
            <a:custGeom>
              <a:avLst/>
              <a:gdLst>
                <a:gd name="textAreaLeft" fmla="*/ 0 w 448560"/>
                <a:gd name="textAreaRight" fmla="*/ 448920 w 448560"/>
                <a:gd name="textAreaTop" fmla="*/ 0 h 520920"/>
                <a:gd name="textAreaBottom" fmla="*/ 521280 h 520920"/>
              </a:gdLst>
              <a:ahLst/>
              <a:cxnLst/>
              <a:rect l="textAreaLeft" t="textAreaTop" r="textAreaRight" b="textAreaBottom"/>
              <a:pathLst>
                <a:path w="11733" h="13620">
                  <a:moveTo>
                    <a:pt x="11712" y="0"/>
                  </a:moveTo>
                  <a:lnTo>
                    <a:pt x="0" y="13620"/>
                  </a:lnTo>
                  <a:lnTo>
                    <a:pt x="569" y="13620"/>
                  </a:lnTo>
                  <a:lnTo>
                    <a:pt x="11732" y="1096"/>
                  </a:lnTo>
                  <a:lnTo>
                    <a:pt x="11732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" name="Google Shape;415;p39"/>
            <p:cNvSpPr/>
            <p:nvPr/>
          </p:nvSpPr>
          <p:spPr>
            <a:xfrm>
              <a:off x="2546640" y="1621440"/>
              <a:ext cx="369360" cy="163440"/>
            </a:xfrm>
            <a:custGeom>
              <a:avLst/>
              <a:gdLst>
                <a:gd name="textAreaLeft" fmla="*/ 0 w 369360"/>
                <a:gd name="textAreaRight" fmla="*/ 369720 w 369360"/>
                <a:gd name="textAreaTop" fmla="*/ 0 h 163440"/>
                <a:gd name="textAreaBottom" fmla="*/ 163800 h 163440"/>
              </a:gdLst>
              <a:ahLst/>
              <a:cxnLst/>
              <a:rect l="textAreaLeft" t="textAreaTop" r="textAreaRight" b="textAreaBottom"/>
              <a:pathLst>
                <a:path w="9663" h="4283">
                  <a:moveTo>
                    <a:pt x="9662" y="0"/>
                  </a:moveTo>
                  <a:lnTo>
                    <a:pt x="9662" y="0"/>
                  </a:lnTo>
                  <a:cubicBezTo>
                    <a:pt x="9622" y="20"/>
                    <a:pt x="8445" y="792"/>
                    <a:pt x="6354" y="1746"/>
                  </a:cubicBezTo>
                  <a:cubicBezTo>
                    <a:pt x="5055" y="2355"/>
                    <a:pt x="2091" y="3329"/>
                    <a:pt x="1" y="3999"/>
                  </a:cubicBezTo>
                  <a:lnTo>
                    <a:pt x="346" y="4283"/>
                  </a:lnTo>
                  <a:lnTo>
                    <a:pt x="6476" y="2233"/>
                  </a:lnTo>
                  <a:cubicBezTo>
                    <a:pt x="7754" y="1807"/>
                    <a:pt x="8850" y="1015"/>
                    <a:pt x="966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1720" bIns="81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" name="Google Shape;416;p39"/>
            <p:cNvSpPr/>
            <p:nvPr/>
          </p:nvSpPr>
          <p:spPr>
            <a:xfrm>
              <a:off x="1689480" y="1808640"/>
              <a:ext cx="127800" cy="8820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88200"/>
                <a:gd name="textAreaBottom" fmla="*/ 88560 h 88200"/>
              </a:gdLst>
              <a:ahLst/>
              <a:cxnLst/>
              <a:rect l="textAreaLeft" t="textAreaTop" r="textAreaRight" b="textAreaBottom"/>
              <a:pathLst>
                <a:path w="3350" h="2315">
                  <a:moveTo>
                    <a:pt x="2476" y="1"/>
                  </a:moveTo>
                  <a:cubicBezTo>
                    <a:pt x="1157" y="1"/>
                    <a:pt x="81" y="1016"/>
                    <a:pt x="0" y="2315"/>
                  </a:cubicBezTo>
                  <a:cubicBezTo>
                    <a:pt x="284" y="1259"/>
                    <a:pt x="1259" y="488"/>
                    <a:pt x="2395" y="488"/>
                  </a:cubicBezTo>
                  <a:cubicBezTo>
                    <a:pt x="2659" y="488"/>
                    <a:pt x="2923" y="549"/>
                    <a:pt x="3167" y="630"/>
                  </a:cubicBezTo>
                  <a:lnTo>
                    <a:pt x="3349" y="163"/>
                  </a:lnTo>
                  <a:cubicBezTo>
                    <a:pt x="3065" y="62"/>
                    <a:pt x="2781" y="1"/>
                    <a:pt x="247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" name="Google Shape;417;p39"/>
            <p:cNvSpPr/>
            <p:nvPr/>
          </p:nvSpPr>
          <p:spPr>
            <a:xfrm>
              <a:off x="2337120" y="1483200"/>
              <a:ext cx="127800" cy="3780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350" h="995">
                  <a:moveTo>
                    <a:pt x="1990" y="0"/>
                  </a:moveTo>
                  <a:cubicBezTo>
                    <a:pt x="1178" y="0"/>
                    <a:pt x="467" y="386"/>
                    <a:pt x="0" y="995"/>
                  </a:cubicBezTo>
                  <a:cubicBezTo>
                    <a:pt x="427" y="670"/>
                    <a:pt x="954" y="487"/>
                    <a:pt x="1543" y="487"/>
                  </a:cubicBezTo>
                  <a:cubicBezTo>
                    <a:pt x="2010" y="487"/>
                    <a:pt x="2456" y="609"/>
                    <a:pt x="2842" y="832"/>
                  </a:cubicBezTo>
                  <a:cubicBezTo>
                    <a:pt x="2984" y="711"/>
                    <a:pt x="3167" y="569"/>
                    <a:pt x="3349" y="406"/>
                  </a:cubicBezTo>
                  <a:cubicBezTo>
                    <a:pt x="2964" y="163"/>
                    <a:pt x="2497" y="0"/>
                    <a:pt x="199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" name="Google Shape;418;p39"/>
            <p:cNvSpPr/>
            <p:nvPr/>
          </p:nvSpPr>
          <p:spPr>
            <a:xfrm>
              <a:off x="2128320" y="2750760"/>
              <a:ext cx="363240" cy="341280"/>
            </a:xfrm>
            <a:custGeom>
              <a:avLst/>
              <a:gdLst>
                <a:gd name="textAreaLeft" fmla="*/ 0 w 363240"/>
                <a:gd name="textAreaRight" fmla="*/ 363600 w 363240"/>
                <a:gd name="textAreaTop" fmla="*/ 0 h 341280"/>
                <a:gd name="textAreaBottom" fmla="*/ 341640 h 341280"/>
              </a:gdLst>
              <a:ahLst/>
              <a:cxnLst/>
              <a:rect l="textAreaLeft" t="textAreaTop" r="textAreaRight" b="textAreaBottom"/>
              <a:pathLst>
                <a:path w="9500" h="8932">
                  <a:moveTo>
                    <a:pt x="9500" y="1"/>
                  </a:moveTo>
                  <a:cubicBezTo>
                    <a:pt x="9500" y="1"/>
                    <a:pt x="7957" y="2558"/>
                    <a:pt x="6090" y="4081"/>
                  </a:cubicBezTo>
                  <a:cubicBezTo>
                    <a:pt x="4243" y="5603"/>
                    <a:pt x="0" y="8627"/>
                    <a:pt x="0" y="8627"/>
                  </a:cubicBezTo>
                  <a:lnTo>
                    <a:pt x="508" y="8932"/>
                  </a:lnTo>
                  <a:cubicBezTo>
                    <a:pt x="508" y="8932"/>
                    <a:pt x="6211" y="4771"/>
                    <a:pt x="7795" y="3066"/>
                  </a:cubicBezTo>
                  <a:cubicBezTo>
                    <a:pt x="8505" y="2294"/>
                    <a:pt x="9215" y="1178"/>
                    <a:pt x="9500" y="21"/>
                  </a:cubicBezTo>
                  <a:cubicBezTo>
                    <a:pt x="9500" y="21"/>
                    <a:pt x="9500" y="1"/>
                    <a:pt x="950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" name="Google Shape;419;p39"/>
            <p:cNvSpPr/>
            <p:nvPr/>
          </p:nvSpPr>
          <p:spPr>
            <a:xfrm>
              <a:off x="2252520" y="2949480"/>
              <a:ext cx="316440" cy="242640"/>
            </a:xfrm>
            <a:custGeom>
              <a:avLst/>
              <a:gdLst>
                <a:gd name="textAreaLeft" fmla="*/ 0 w 316440"/>
                <a:gd name="textAreaRight" fmla="*/ 316800 w 316440"/>
                <a:gd name="textAreaTop" fmla="*/ 0 h 242640"/>
                <a:gd name="textAreaBottom" fmla="*/ 243000 h 242640"/>
              </a:gdLst>
              <a:ahLst/>
              <a:cxnLst/>
              <a:rect l="textAreaLeft" t="textAreaTop" r="textAreaRight" b="textAreaBottom"/>
              <a:pathLst>
                <a:path w="8277" h="6354">
                  <a:moveTo>
                    <a:pt x="8140" y="0"/>
                  </a:moveTo>
                  <a:cubicBezTo>
                    <a:pt x="8140" y="0"/>
                    <a:pt x="1056" y="5014"/>
                    <a:pt x="1" y="6353"/>
                  </a:cubicBezTo>
                  <a:cubicBezTo>
                    <a:pt x="2763" y="4292"/>
                    <a:pt x="7774" y="810"/>
                    <a:pt x="8128" y="810"/>
                  </a:cubicBezTo>
                  <a:cubicBezTo>
                    <a:pt x="8133" y="810"/>
                    <a:pt x="8137" y="811"/>
                    <a:pt x="8140" y="812"/>
                  </a:cubicBezTo>
                  <a:cubicBezTo>
                    <a:pt x="8147" y="814"/>
                    <a:pt x="8153" y="815"/>
                    <a:pt x="8159" y="815"/>
                  </a:cubicBezTo>
                  <a:cubicBezTo>
                    <a:pt x="8277" y="815"/>
                    <a:pt x="8218" y="426"/>
                    <a:pt x="814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18" name="Google Shape;420;p39"/>
          <p:cNvGrpSpPr/>
          <p:nvPr/>
        </p:nvGrpSpPr>
        <p:grpSpPr>
          <a:xfrm>
            <a:off x="6779160" y="349560"/>
            <a:ext cx="912960" cy="370440"/>
            <a:chOff x="6779160" y="349560"/>
            <a:chExt cx="912960" cy="370440"/>
          </a:xfrm>
        </p:grpSpPr>
        <p:sp>
          <p:nvSpPr>
            <p:cNvPr id="119" name="Google Shape;421;p39"/>
            <p:cNvSpPr/>
            <p:nvPr/>
          </p:nvSpPr>
          <p:spPr>
            <a:xfrm>
              <a:off x="7203600" y="349560"/>
              <a:ext cx="488520" cy="370440"/>
            </a:xfrm>
            <a:custGeom>
              <a:avLst/>
              <a:gdLst>
                <a:gd name="textAreaLeft" fmla="*/ 0 w 488520"/>
                <a:gd name="textAreaRight" fmla="*/ 488880 w 488520"/>
                <a:gd name="textAreaTop" fmla="*/ 0 h 370440"/>
                <a:gd name="textAreaBottom" fmla="*/ 370800 h 370440"/>
              </a:gdLst>
              <a:ahLst/>
              <a:cxnLst/>
              <a:rect l="textAreaLeft" t="textAreaTop" r="textAreaRight" b="textAreaBottom"/>
              <a:pathLst>
                <a:path w="19548" h="14839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" name="Google Shape;422;p39"/>
            <p:cNvSpPr/>
            <p:nvPr/>
          </p:nvSpPr>
          <p:spPr>
            <a:xfrm>
              <a:off x="6779160" y="349560"/>
              <a:ext cx="488520" cy="370440"/>
            </a:xfrm>
            <a:custGeom>
              <a:avLst/>
              <a:gdLst>
                <a:gd name="textAreaLeft" fmla="*/ 0 w 488520"/>
                <a:gd name="textAreaRight" fmla="*/ 488880 w 488520"/>
                <a:gd name="textAreaTop" fmla="*/ 0 h 370440"/>
                <a:gd name="textAreaBottom" fmla="*/ 370800 h 370440"/>
              </a:gdLst>
              <a:ahLst/>
              <a:cxnLst/>
              <a:rect l="textAreaLeft" t="textAreaTop" r="textAreaRight" b="textAreaBottom"/>
              <a:pathLst>
                <a:path w="19548" h="14839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21" name="Google Shape;423;p39"/>
          <p:cNvSpPr/>
          <p:nvPr/>
        </p:nvSpPr>
        <p:spPr>
          <a:xfrm>
            <a:off x="2085840" y="819000"/>
            <a:ext cx="1266480" cy="1266480"/>
          </a:xfrm>
          <a:prstGeom prst="rect">
            <a:avLst/>
          </a:prstGeom>
          <a:solidFill>
            <a:srgbClr val="6E79E4">
              <a:alpha val="36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70823080" tIns="633240" rIns="870823080" bIns="63324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22" name="Google Shape;424;p39"/>
          <p:cNvGrpSpPr/>
          <p:nvPr/>
        </p:nvGrpSpPr>
        <p:grpSpPr>
          <a:xfrm>
            <a:off x="1735200" y="1051920"/>
            <a:ext cx="537120" cy="136080"/>
            <a:chOff x="1735200" y="1051920"/>
            <a:chExt cx="537120" cy="136080"/>
          </a:xfrm>
        </p:grpSpPr>
        <p:sp>
          <p:nvSpPr>
            <p:cNvPr id="123" name="Google Shape;425;p39"/>
            <p:cNvSpPr/>
            <p:nvPr/>
          </p:nvSpPr>
          <p:spPr>
            <a:xfrm flipH="1">
              <a:off x="1735200" y="1051920"/>
              <a:ext cx="82080" cy="136080"/>
            </a:xfrm>
            <a:custGeom>
              <a:avLst/>
              <a:gdLst>
                <a:gd name="textAreaLeft" fmla="*/ 360 w 82080"/>
                <a:gd name="textAreaRight" fmla="*/ 82800 w 8208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2539" h="4203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" name="Google Shape;426;p39"/>
            <p:cNvSpPr/>
            <p:nvPr/>
          </p:nvSpPr>
          <p:spPr>
            <a:xfrm flipH="1">
              <a:off x="1887120" y="1051920"/>
              <a:ext cx="82080" cy="136080"/>
            </a:xfrm>
            <a:custGeom>
              <a:avLst/>
              <a:gdLst>
                <a:gd name="textAreaLeft" fmla="*/ 360 w 82080"/>
                <a:gd name="textAreaRight" fmla="*/ 82800 w 8208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5" name="Google Shape;427;p39"/>
            <p:cNvSpPr/>
            <p:nvPr/>
          </p:nvSpPr>
          <p:spPr>
            <a:xfrm flipH="1">
              <a:off x="2038680" y="1051920"/>
              <a:ext cx="82080" cy="136080"/>
            </a:xfrm>
            <a:custGeom>
              <a:avLst/>
              <a:gdLst>
                <a:gd name="textAreaLeft" fmla="*/ 360 w 82080"/>
                <a:gd name="textAreaRight" fmla="*/ 82800 w 8208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" name="Google Shape;428;p39"/>
            <p:cNvSpPr/>
            <p:nvPr/>
          </p:nvSpPr>
          <p:spPr>
            <a:xfrm flipH="1">
              <a:off x="2189520" y="1051920"/>
              <a:ext cx="82800" cy="136080"/>
            </a:xfrm>
            <a:custGeom>
              <a:avLst/>
              <a:gdLst>
                <a:gd name="textAreaLeft" fmla="*/ 360 w 82800"/>
                <a:gd name="textAreaRight" fmla="*/ 83520 w 8280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2559" h="4203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cxnSp>
        <p:nvCxnSpPr>
          <p:cNvPr id="127" name="Google Shape;429;p39"/>
          <p:cNvCxnSpPr/>
          <p:nvPr/>
        </p:nvCxnSpPr>
        <p:spPr>
          <a:xfrm flipV="1">
            <a:off x="3459240" y="2213137"/>
            <a:ext cx="4990680" cy="11880"/>
          </a:xfrm>
          <a:prstGeom prst="straightConnector1">
            <a:avLst/>
          </a:prstGeom>
          <a:ln w="19050">
            <a:solidFill>
              <a:srgbClr val="191919"/>
            </a:solidFill>
            <a:round/>
          </a:ln>
        </p:spPr>
      </p:cxnSp>
      <p:sp>
        <p:nvSpPr>
          <p:cNvPr id="128" name="Rectangle 127"/>
          <p:cNvSpPr/>
          <p:nvPr/>
        </p:nvSpPr>
        <p:spPr>
          <a:xfrm>
            <a:off x="3457440" y="762120"/>
            <a:ext cx="4657320" cy="59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b">
            <a:normAutofit fontScale="77500" lnSpcReduction="20000"/>
          </a:bodyPr>
          <a:lstStyle/>
          <a:p>
            <a:pPr>
              <a:tabLst>
                <a:tab pos="0" algn="l"/>
              </a:tabLst>
            </a:pPr>
            <a:r>
              <a:rPr lang="en-US" sz="4700" b="0" u="none" strike="noStrike">
                <a:solidFill>
                  <a:srgbClr val="6E79E4"/>
                </a:solidFill>
                <a:effectLst/>
                <a:uFillTx/>
                <a:latin typeface="Bebas Neue"/>
              </a:rPr>
              <a:t>AI </a:t>
            </a:r>
            <a:r>
              <a:rPr lang="en-US" sz="4700">
                <a:solidFill>
                  <a:srgbClr val="6E79E4"/>
                </a:solidFill>
                <a:latin typeface="Bebas Neue"/>
              </a:rPr>
              <a:t>Timeline- Group 3</a:t>
            </a:r>
            <a:endParaRPr lang="en-US" sz="47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3354964" y="2206949"/>
            <a:ext cx="4657320" cy="21648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 fontScale="77500" lnSpcReduction="2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600">
                <a:solidFill>
                  <a:srgbClr val="3C3C3B"/>
                </a:solidFill>
                <a:latin typeface="Raleway Medium"/>
              </a:rPr>
              <a:t>Wei-Hua Chiu (Lala)       </a:t>
            </a:r>
            <a:br>
              <a:rPr lang="en-US" sz="1600">
                <a:latin typeface="Raleway Medium"/>
              </a:rPr>
            </a:br>
            <a:r>
              <a:rPr lang="en-US" sz="1600">
                <a:solidFill>
                  <a:srgbClr val="3C3C3B"/>
                </a:solidFill>
                <a:latin typeface="Raleway Medium"/>
              </a:rPr>
              <a:t>Haarini Balakrishnan</a:t>
            </a:r>
            <a:br>
              <a:rPr lang="en-US" sz="1600">
                <a:latin typeface="Raleway Medium"/>
              </a:rPr>
            </a:br>
            <a:r>
              <a:rPr lang="en-US" sz="1600">
                <a:solidFill>
                  <a:srgbClr val="3C3C3B"/>
                </a:solidFill>
                <a:latin typeface="Raleway Medium"/>
              </a:rPr>
              <a:t>Uthist Enoch Vayya </a:t>
            </a:r>
            <a:endParaRPr lang="en-US"/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600">
                <a:latin typeface="Raleway Medium"/>
              </a:rPr>
              <a:t>Priya Varman</a:t>
            </a:r>
            <a:br>
              <a:rPr lang="en-US" sz="1600">
                <a:latin typeface="Raleway Medium"/>
              </a:rPr>
            </a:br>
            <a:r>
              <a:rPr lang="en-US" sz="1600">
                <a:solidFill>
                  <a:srgbClr val="3C3C3B"/>
                </a:solidFill>
                <a:latin typeface="Raleway Medium"/>
              </a:rPr>
              <a:t>Imad Uddin Sheikh</a:t>
            </a:r>
            <a:br>
              <a:rPr lang="en-US" sz="1600">
                <a:latin typeface="Raleway Medium"/>
              </a:rPr>
            </a:br>
            <a:r>
              <a:rPr lang="en-US" sz="1600">
                <a:solidFill>
                  <a:srgbClr val="3C3C3B"/>
                </a:solidFill>
                <a:latin typeface="Raleway Medium"/>
              </a:rPr>
              <a:t>Carolina Munar</a:t>
            </a:r>
            <a:endParaRPr lang="en-US">
              <a:cs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600">
                <a:solidFill>
                  <a:srgbClr val="3C3C3B"/>
                </a:solidFill>
                <a:latin typeface="Raleway Medium"/>
              </a:rPr>
              <a:t>Ganeshapuram Perumalsamy Karthikeyan</a:t>
            </a:r>
            <a:br>
              <a:rPr lang="en-US" sz="1600">
                <a:solidFill>
                  <a:srgbClr val="3C3C3B"/>
                </a:solidFill>
                <a:latin typeface="Raleway Medium"/>
              </a:rPr>
            </a:br>
            <a:r>
              <a:rPr lang="en-US" sz="1600">
                <a:solidFill>
                  <a:srgbClr val="3C3C3B"/>
                </a:solidFill>
                <a:latin typeface="Raleway Medium"/>
              </a:rPr>
              <a:t>Mohan Krishna </a:t>
            </a:r>
            <a:r>
              <a:rPr lang="en-US" sz="1600" err="1">
                <a:solidFill>
                  <a:srgbClr val="3C3C3B"/>
                </a:solidFill>
                <a:latin typeface="Raleway Medium"/>
              </a:rPr>
              <a:t>Chunarkar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129"/>
          <p:cNvSpPr/>
          <p:nvPr/>
        </p:nvSpPr>
        <p:spPr>
          <a:xfrm>
            <a:off x="723960" y="447840"/>
            <a:ext cx="7705440" cy="49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ctr">
            <a:normAutofit fontScale="77500" lnSpcReduction="20000"/>
          </a:bodyPr>
          <a:lstStyle/>
          <a:p>
            <a:pPr algn="ctr">
              <a:tabLst>
                <a:tab pos="0" algn="l"/>
              </a:tabLst>
            </a:pPr>
            <a:r>
              <a:rPr lang="en-US" sz="3900">
                <a:solidFill>
                  <a:srgbClr val="6E79E4"/>
                </a:solidFill>
                <a:latin typeface="Bebas Neue"/>
              </a:rPr>
              <a:t>AI Timeline: 1950-1956 (The </a:t>
            </a:r>
            <a:r>
              <a:rPr lang="en-US" sz="3900" err="1">
                <a:solidFill>
                  <a:srgbClr val="6E79E4"/>
                </a:solidFill>
                <a:latin typeface="Bebas Neue"/>
              </a:rPr>
              <a:t>DReam</a:t>
            </a:r>
            <a:r>
              <a:rPr lang="en-US" sz="3900">
                <a:solidFill>
                  <a:srgbClr val="6E79E4"/>
                </a:solidFill>
                <a:latin typeface="Bebas Neue"/>
              </a:rPr>
              <a:t> </a:t>
            </a:r>
            <a:r>
              <a:rPr lang="en-US" sz="3900" err="1">
                <a:solidFill>
                  <a:srgbClr val="6E79E4"/>
                </a:solidFill>
                <a:latin typeface="Bebas Neue"/>
              </a:rPr>
              <a:t>BeGins</a:t>
            </a:r>
            <a:r>
              <a:rPr lang="en-US" sz="3900">
                <a:solidFill>
                  <a:srgbClr val="6E79E4"/>
                </a:solidFill>
                <a:latin typeface="Bebas Neue"/>
              </a:rPr>
              <a:t>)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95480" y="1409760"/>
            <a:ext cx="6686280" cy="148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191919"/>
              </a:solidFill>
              <a:effectLst/>
              <a:uFillTx/>
              <a:latin typeface="Raleway Medium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451729-5D55-5D36-9BF9-04FCD898E0BF}"/>
              </a:ext>
            </a:extLst>
          </p:cNvPr>
          <p:cNvSpPr txBox="1"/>
          <p:nvPr/>
        </p:nvSpPr>
        <p:spPr>
          <a:xfrm>
            <a:off x="723900" y="1285875"/>
            <a:ext cx="3124200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/>
              <a:t>1950 — Alan Turing and the Turing Test</a:t>
            </a:r>
            <a:endParaRPr lang="en-US" sz="1400" b="1">
              <a:cs typeface="Arial"/>
            </a:endParaRPr>
          </a:p>
          <a:p>
            <a:pPr marL="228600" indent="-228600">
              <a:buFont typeface=""/>
              <a:buChar char="•"/>
            </a:pPr>
            <a:r>
              <a:rPr lang="en-US" sz="1400"/>
              <a:t>Alan Turing published Computing Machinery and Intelligence.</a:t>
            </a:r>
            <a:endParaRPr lang="en-US" sz="1400">
              <a:cs typeface="Arial"/>
            </a:endParaRPr>
          </a:p>
          <a:p>
            <a:pPr marL="228600" indent="-228600">
              <a:buFont typeface=""/>
              <a:buChar char="•"/>
            </a:pPr>
            <a:r>
              <a:rPr lang="en-US" sz="1400"/>
              <a:t>Introduced the idea of testing whether a machine could imitate human conversation.</a:t>
            </a:r>
            <a:endParaRPr lang="en-US" sz="1400">
              <a:cs typeface="Arial"/>
            </a:endParaRPr>
          </a:p>
          <a:p>
            <a:pPr marL="228600" indent="-228600">
              <a:buFont typeface=""/>
              <a:buChar char="•"/>
            </a:pPr>
            <a:r>
              <a:rPr lang="en-US" sz="1400"/>
              <a:t>Helped establish the foundation for modern AI research.</a:t>
            </a:r>
            <a:endParaRPr lang="en-US" sz="1400">
              <a:cs typeface="Arial"/>
            </a:endParaRPr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87D880-52AA-D49D-92BC-38085977A7FA}"/>
              </a:ext>
            </a:extLst>
          </p:cNvPr>
          <p:cNvSpPr txBox="1"/>
          <p:nvPr/>
        </p:nvSpPr>
        <p:spPr>
          <a:xfrm>
            <a:off x="4257675" y="2714625"/>
            <a:ext cx="4171950" cy="20928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/>
              <a:t>1956 — Artificial Intelligence Becomes a Field</a:t>
            </a:r>
            <a:endParaRPr lang="en-US" sz="1400" b="1">
              <a:cs typeface="Arial"/>
            </a:endParaRPr>
          </a:p>
          <a:p>
            <a:pPr marL="228600" indent="-228600">
              <a:buFont typeface=""/>
              <a:buChar char="•"/>
            </a:pPr>
            <a:r>
              <a:rPr lang="en-US" sz="1400"/>
              <a:t>The Dartmouth Summer Research Project helped launch AI as an academic field.</a:t>
            </a:r>
            <a:endParaRPr lang="en-US" sz="1400">
              <a:cs typeface="Arial"/>
            </a:endParaRPr>
          </a:p>
          <a:p>
            <a:pPr marL="228600" indent="-228600">
              <a:buFont typeface=""/>
              <a:buChar char="•"/>
            </a:pPr>
            <a:r>
              <a:rPr lang="en-US" sz="1400"/>
              <a:t>John McCarthy, Marvin Minsky, Claude Shannon, and Nathaniel Rochester were key organizers.</a:t>
            </a:r>
            <a:endParaRPr lang="en-US" sz="1400">
              <a:cs typeface="Arial"/>
            </a:endParaRPr>
          </a:p>
          <a:p>
            <a:pPr marL="228600" indent="-228600">
              <a:buFont typeface=""/>
              <a:buChar char="•"/>
            </a:pPr>
            <a:r>
              <a:rPr lang="en-US" sz="1400"/>
              <a:t>Researchers explored whether machines could simulate aspects of human intelligence.</a:t>
            </a:r>
            <a:endParaRPr lang="en-US" sz="1400">
              <a:cs typeface="Arial"/>
            </a:endParaRPr>
          </a:p>
          <a:p>
            <a:pPr algn="ctr"/>
            <a:endParaRPr lang="en-US"/>
          </a:p>
        </p:txBody>
      </p:sp>
      <p:pic>
        <p:nvPicPr>
          <p:cNvPr id="7" name="Picture 6" descr="Popular Culture | Timeline of Computer History | Computer History Museum">
            <a:extLst>
              <a:ext uri="{FF2B5EF4-FFF2-40B4-BE49-F238E27FC236}">
                <a16:creationId xmlns:a16="http://schemas.microsoft.com/office/drawing/2014/main" id="{F5157909-9910-5ABE-97A0-855ED0FC1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1095375"/>
            <a:ext cx="1095375" cy="1476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B74449-6406-7D8D-F1EC-D0C192923B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816" t="-20423" r="-44170" b="20775"/>
          <a:stretch>
            <a:fillRect/>
          </a:stretch>
        </p:blipFill>
        <p:spPr>
          <a:xfrm>
            <a:off x="1325406" y="3055383"/>
            <a:ext cx="3101154" cy="16084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1FEC0-A147-2960-C1FA-C4D29888F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AI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F6778-758B-FFB9-B385-6BC605314C3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09625" y="1174905"/>
            <a:ext cx="3161940" cy="1925685"/>
          </a:xfrm>
        </p:spPr>
        <p:txBody>
          <a:bodyPr lIns="0" tIns="0" rIns="0" bIns="0">
            <a:noAutofit/>
          </a:bodyPr>
          <a:lstStyle/>
          <a:p>
            <a:pPr>
              <a:buNone/>
            </a:pPr>
            <a:r>
              <a:rPr lang="en-US" sz="1400" b="1">
                <a:ea typeface="+mn-lt"/>
                <a:cs typeface="+mn-lt"/>
              </a:rPr>
              <a:t>1966 — ELIZA: An Early Chatbot</a:t>
            </a:r>
            <a:endParaRPr lang="en-US" sz="1400" b="1">
              <a:cs typeface="Arial"/>
            </a:endParaRPr>
          </a:p>
          <a:p>
            <a:pPr>
              <a:buFont typeface="Arial"/>
              <a:buChar char="•"/>
            </a:pPr>
            <a:r>
              <a:rPr lang="en-US" sz="1400">
                <a:ea typeface="+mn-lt"/>
                <a:cs typeface="+mn-lt"/>
              </a:rPr>
              <a:t>Joseph Weizenbaum created ELIZA at MIT.</a:t>
            </a:r>
            <a:endParaRPr lang="en-US" sz="1400">
              <a:cs typeface="Arial"/>
            </a:endParaRPr>
          </a:p>
          <a:p>
            <a:pPr>
              <a:buFont typeface="Arial"/>
              <a:buChar char="•"/>
            </a:pPr>
            <a:r>
              <a:rPr lang="en-US" sz="1400">
                <a:ea typeface="+mn-lt"/>
                <a:cs typeface="+mn-lt"/>
              </a:rPr>
              <a:t>The program used pattern matching to simulate conversation.</a:t>
            </a:r>
            <a:endParaRPr lang="en-US" sz="1400">
              <a:cs typeface="Arial"/>
            </a:endParaRPr>
          </a:p>
          <a:p>
            <a:pPr>
              <a:buFont typeface="Arial"/>
              <a:buChar char="•"/>
            </a:pPr>
            <a:r>
              <a:rPr lang="en-US" sz="1400">
                <a:ea typeface="+mn-lt"/>
                <a:cs typeface="+mn-lt"/>
              </a:rPr>
              <a:t>Demonstrated how computers could appear to communicate with humans.</a:t>
            </a:r>
            <a:endParaRPr lang="en-US" sz="1400">
              <a:cs typeface="Arial"/>
            </a:endParaRPr>
          </a:p>
          <a:p>
            <a:pPr marL="0" indent="0">
              <a:buNone/>
            </a:pPr>
            <a:endParaRPr lang="en-US"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A889DE-F332-49D6-FB6A-7E220A70B8B8}"/>
              </a:ext>
            </a:extLst>
          </p:cNvPr>
          <p:cNvSpPr txBox="1"/>
          <p:nvPr/>
        </p:nvSpPr>
        <p:spPr>
          <a:xfrm>
            <a:off x="2847975" y="342900"/>
            <a:ext cx="4010025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000" b="0" i="0" u="none" strike="noStrike" baseline="0">
                <a:solidFill>
                  <a:srgbClr val="6E79E4"/>
                </a:solidFill>
                <a:latin typeface="Bebas Neue"/>
              </a:rPr>
              <a:t>AI Timeline: </a:t>
            </a:r>
            <a:r>
              <a:rPr lang="en-US" sz="3000">
                <a:solidFill>
                  <a:srgbClr val="6E79E4"/>
                </a:solidFill>
                <a:latin typeface="Bebas Neue"/>
              </a:rPr>
              <a:t>1956-1966</a:t>
            </a:r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495516-3B6C-A7C4-AE99-2AC8F5AC3A96}"/>
              </a:ext>
            </a:extLst>
          </p:cNvPr>
          <p:cNvSpPr txBox="1"/>
          <p:nvPr/>
        </p:nvSpPr>
        <p:spPr>
          <a:xfrm>
            <a:off x="4973240" y="2580679"/>
            <a:ext cx="3442692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/>
              <a:t>1966–1972 — Shakey the Robot</a:t>
            </a:r>
            <a:endParaRPr lang="en-US" sz="1400" b="1">
              <a:cs typeface="Arial"/>
            </a:endParaRPr>
          </a:p>
          <a:p>
            <a:pPr marL="228600" indent="-228600">
              <a:buFont typeface=""/>
              <a:buChar char="•"/>
            </a:pPr>
            <a:r>
              <a:rPr lang="en-US" sz="1400"/>
              <a:t>Developed at Stanford Research Institute (SRI).</a:t>
            </a:r>
            <a:endParaRPr lang="en-US" sz="1400">
              <a:cs typeface="Arial"/>
            </a:endParaRPr>
          </a:p>
          <a:p>
            <a:pPr marL="228600" indent="-228600">
              <a:buFont typeface=""/>
              <a:buChar char="•"/>
            </a:pPr>
            <a:r>
              <a:rPr lang="en-US" sz="1400"/>
              <a:t>Combined perception, planning, and movement.</a:t>
            </a:r>
            <a:endParaRPr lang="en-US" sz="1400">
              <a:cs typeface="Arial"/>
            </a:endParaRPr>
          </a:p>
          <a:p>
            <a:pPr marL="228600" indent="-228600">
              <a:buFont typeface=""/>
              <a:buChar char="•"/>
            </a:pPr>
            <a:r>
              <a:rPr lang="en-US" sz="1400"/>
              <a:t>Became an important early example of an AI-controlled mobile robot.</a:t>
            </a:r>
            <a:endParaRPr lang="en-US" sz="1400">
              <a:cs typeface="Arial"/>
            </a:endParaRPr>
          </a:p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42A3A3-6BAA-7253-D571-3BAA4E301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405" y="1170162"/>
            <a:ext cx="2180630" cy="126666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5303F6-33DE-E977-03B0-3E37126F1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742" y="3096645"/>
            <a:ext cx="1930599" cy="1569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917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fireball with a black background&#10;&#10;AI-generated content may be incorrect.">
            <a:extLst>
              <a:ext uri="{FF2B5EF4-FFF2-40B4-BE49-F238E27FC236}">
                <a16:creationId xmlns:a16="http://schemas.microsoft.com/office/drawing/2014/main" id="{5E7A1C39-25ED-4455-F76A-CAA283D2A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200" y="1224"/>
            <a:ext cx="4920996" cy="599998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CE268A7-FA2F-1BC6-399F-457FF81EB3FF}"/>
              </a:ext>
            </a:extLst>
          </p:cNvPr>
          <p:cNvSpPr/>
          <p:nvPr/>
        </p:nvSpPr>
        <p:spPr>
          <a:xfrm>
            <a:off x="2186585" y="2412756"/>
            <a:ext cx="5133600" cy="49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b">
            <a:normAutofit fontScale="77500" lnSpcReduction="20000"/>
          </a:bodyPr>
          <a:lstStyle/>
          <a:p>
            <a:pPr>
              <a:tabLst>
                <a:tab pos="0" algn="l"/>
              </a:tabLst>
            </a:pPr>
            <a:r>
              <a:rPr lang="en-US" sz="3900">
                <a:solidFill>
                  <a:srgbClr val="6E79E4"/>
                </a:solidFill>
                <a:latin typeface="Bebas Neue"/>
              </a:rPr>
              <a:t>1970-1990 Expansion &amp; Challenges</a:t>
            </a:r>
            <a:endParaRPr lang="en-US" sz="3900" b="0" u="none" strike="noStrike">
              <a:solidFill>
                <a:srgbClr val="6E79E4"/>
              </a:solidFill>
              <a:effectLst/>
              <a:uFillTx/>
              <a:latin typeface="Bebas Neue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D8FD6-3D3C-3A50-E3B7-26E86222A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82;p67">
            <a:extLst>
              <a:ext uri="{FF2B5EF4-FFF2-40B4-BE49-F238E27FC236}">
                <a16:creationId xmlns:a16="http://schemas.microsoft.com/office/drawing/2014/main" id="{A97ACACE-EBF6-A449-4884-FB5AB74D05A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105600" y="0"/>
            <a:ext cx="3038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Rectangle 132">
            <a:extLst>
              <a:ext uri="{FF2B5EF4-FFF2-40B4-BE49-F238E27FC236}">
                <a16:creationId xmlns:a16="http://schemas.microsoft.com/office/drawing/2014/main" id="{0336B4D3-55AF-2D2D-A64F-4CD948DED9B5}"/>
              </a:ext>
            </a:extLst>
          </p:cNvPr>
          <p:cNvSpPr/>
          <p:nvPr/>
        </p:nvSpPr>
        <p:spPr>
          <a:xfrm>
            <a:off x="905040" y="600120"/>
            <a:ext cx="5133600" cy="49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b">
            <a:normAutofit fontScale="77500" lnSpcReduction="20000"/>
          </a:bodyPr>
          <a:lstStyle/>
          <a:p>
            <a:pPr>
              <a:tabLst>
                <a:tab pos="0" algn="l"/>
              </a:tabLst>
            </a:pPr>
            <a:r>
              <a:rPr lang="en-US" sz="3900">
                <a:solidFill>
                  <a:srgbClr val="6E79E4"/>
                </a:solidFill>
                <a:latin typeface="Bebas Neue"/>
              </a:rPr>
              <a:t>1970-1990 Expansion &amp; Challenges</a:t>
            </a:r>
            <a:endParaRPr lang="en-US" sz="3900" b="0" u="none" strike="noStrike">
              <a:solidFill>
                <a:srgbClr val="6E79E4"/>
              </a:solidFill>
              <a:effectLst/>
              <a:uFillTx/>
              <a:latin typeface="Bebas Neue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029CCCBB-BC39-C36F-3D88-B56AAD10DA2A}"/>
              </a:ext>
            </a:extLst>
          </p:cNvPr>
          <p:cNvSpPr/>
          <p:nvPr/>
        </p:nvSpPr>
        <p:spPr>
          <a:xfrm>
            <a:off x="905040" y="1091460"/>
            <a:ext cx="5032846" cy="36435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  <a:tabLst>
                <a:tab pos="0" algn="l"/>
              </a:tabLst>
            </a:pPr>
            <a:r>
              <a:rPr lang="en-US" sz="1400">
                <a:solidFill>
                  <a:srgbClr val="191919"/>
                </a:solidFill>
                <a:ea typeface="+mn-lt"/>
                <a:cs typeface="+mn-lt"/>
              </a:rPr>
              <a:t>Programs like MYCIN used rule-based reasoning to assist with medical diagnoses </a:t>
            </a:r>
            <a:r>
              <a:rPr lang="en-US" sz="1400" b="0" u="none" strike="noStrike">
                <a:solidFill>
                  <a:srgbClr val="191919"/>
                </a:solidFill>
                <a:effectLst/>
                <a:uFillTx/>
                <a:ea typeface="+mn-lt"/>
                <a:cs typeface="+mn-lt"/>
              </a:rPr>
              <a:t>and </a:t>
            </a:r>
            <a:r>
              <a:rPr lang="en-US" sz="1400">
                <a:solidFill>
                  <a:srgbClr val="191919"/>
                </a:solidFill>
                <a:ea typeface="+mn-lt"/>
                <a:cs typeface="+mn-lt"/>
              </a:rPr>
              <a:t>treatment recommendations</a:t>
            </a:r>
            <a:r>
              <a:rPr lang="en-US" sz="1400" b="0" u="none" strike="noStrike">
                <a:solidFill>
                  <a:srgbClr val="191919"/>
                </a:solidFill>
                <a:effectLst/>
                <a:uFillTx/>
                <a:ea typeface="+mn-lt"/>
                <a:cs typeface="+mn-lt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  <a:tabLst>
                <a:tab pos="0" algn="l"/>
              </a:tabLst>
            </a:pPr>
            <a:r>
              <a:rPr lang="en-US" sz="1400">
                <a:solidFill>
                  <a:srgbClr val="191919"/>
                </a:solidFill>
                <a:ea typeface="+mn-lt"/>
                <a:cs typeface="+mn-lt"/>
              </a:rPr>
              <a:t>Limited computing power, unrealistic expectations, and reduced funding slowed AI development.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  <a:tabLst>
                <a:tab pos="0" algn="l"/>
              </a:tabLst>
            </a:pPr>
            <a:r>
              <a:rPr lang="en-US" sz="1400">
                <a:solidFill>
                  <a:srgbClr val="191919"/>
                </a:solidFill>
                <a:ea typeface="+mn-lt"/>
                <a:cs typeface="+mn-lt"/>
              </a:rPr>
              <a:t>Companies invested in expert systems to automate tasks and improve business decision-making.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  <a:tabLst>
                <a:tab pos="0" algn="l"/>
              </a:tabLst>
            </a:pPr>
            <a:r>
              <a:rPr lang="en-US" sz="1400">
                <a:solidFill>
                  <a:srgbClr val="191919"/>
                </a:solidFill>
                <a:ea typeface="+mn-lt"/>
                <a:cs typeface="+mn-lt"/>
              </a:rPr>
              <a:t>Expensive systems, maintenance difficulties, and disappointing results caused investment to decline.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35EE75-16C1-DF36-51EA-F7E4022C8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623310"/>
            <a:ext cx="3185160" cy="159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551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oogle Shape;437;p40"/>
          <p:cNvGrpSpPr/>
          <p:nvPr/>
        </p:nvGrpSpPr>
        <p:grpSpPr>
          <a:xfrm>
            <a:off x="8026560" y="4713120"/>
            <a:ext cx="780840" cy="198000"/>
            <a:chOff x="8026560" y="4713120"/>
            <a:chExt cx="780840" cy="198000"/>
          </a:xfrm>
        </p:grpSpPr>
        <p:sp>
          <p:nvSpPr>
            <p:cNvPr id="136" name="Google Shape;438;p40"/>
            <p:cNvSpPr/>
            <p:nvPr/>
          </p:nvSpPr>
          <p:spPr>
            <a:xfrm>
              <a:off x="8687880" y="4713120"/>
              <a:ext cx="119520" cy="19800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39" h="4203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" name="Google Shape;439;p40"/>
            <p:cNvSpPr/>
            <p:nvPr/>
          </p:nvSpPr>
          <p:spPr>
            <a:xfrm>
              <a:off x="8467560" y="4713120"/>
              <a:ext cx="119520" cy="19800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" name="Google Shape;440;p40"/>
            <p:cNvSpPr/>
            <p:nvPr/>
          </p:nvSpPr>
          <p:spPr>
            <a:xfrm>
              <a:off x="8247240" y="4713120"/>
              <a:ext cx="119520" cy="19800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" name="Google Shape;441;p40"/>
            <p:cNvSpPr/>
            <p:nvPr/>
          </p:nvSpPr>
          <p:spPr>
            <a:xfrm>
              <a:off x="8026560" y="4713120"/>
              <a:ext cx="120600" cy="198000"/>
            </a:xfrm>
            <a:custGeom>
              <a:avLst/>
              <a:gdLst>
                <a:gd name="textAreaLeft" fmla="*/ 0 w 120600"/>
                <a:gd name="textAreaRight" fmla="*/ 120960 w 12060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59" h="4203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44" name="Rectangle 143"/>
          <p:cNvSpPr/>
          <p:nvPr/>
        </p:nvSpPr>
        <p:spPr>
          <a:xfrm>
            <a:off x="819000" y="628560"/>
            <a:ext cx="75052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 fontScale="85000" lnSpcReduction="19999"/>
          </a:bodyPr>
          <a:lstStyle/>
          <a:p>
            <a:pPr>
              <a:tabLst>
                <a:tab pos="0" algn="l"/>
              </a:tabLst>
            </a:pPr>
            <a:r>
              <a:rPr lang="en-US" sz="2600">
                <a:solidFill>
                  <a:srgbClr val="6E79E4"/>
                </a:solidFill>
                <a:latin typeface="Bebas Neue"/>
              </a:rPr>
              <a:t>1990 – 2004 Major AI inventions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1E649A-2E2E-EA08-61FB-E5CA03FD2959}"/>
              </a:ext>
            </a:extLst>
          </p:cNvPr>
          <p:cNvSpPr txBox="1"/>
          <p:nvPr/>
        </p:nvSpPr>
        <p:spPr>
          <a:xfrm>
            <a:off x="1028699" y="1436914"/>
            <a:ext cx="7200899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800">
                <a:ea typeface="+mn-lt"/>
                <a:cs typeface="+mn-lt"/>
              </a:rPr>
              <a:t>1997 – </a:t>
            </a:r>
            <a:r>
              <a:rPr lang="en-US" sz="800" b="1">
                <a:ea typeface="+mn-lt"/>
                <a:cs typeface="+mn-lt"/>
              </a:rPr>
              <a:t>IBM Deep Blue</a:t>
            </a:r>
            <a:r>
              <a:rPr lang="en-US" sz="800">
                <a:ea typeface="+mn-lt"/>
                <a:cs typeface="+mn-lt"/>
              </a:rPr>
              <a:t>: Defeated world chess champion Garry Kasparov, showcasing AI’s ability in strategic games.</a:t>
            </a:r>
            <a:endParaRPr lang="en-US" sz="800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US" sz="800">
                <a:ea typeface="+mn-lt"/>
                <a:cs typeface="+mn-lt"/>
              </a:rPr>
              <a:t>1997 – </a:t>
            </a:r>
            <a:r>
              <a:rPr lang="en-US" sz="800" b="1">
                <a:ea typeface="+mn-lt"/>
                <a:cs typeface="+mn-lt"/>
              </a:rPr>
              <a:t>Dragon NaturallySpeaking</a:t>
            </a:r>
            <a:r>
              <a:rPr lang="en-US" sz="800">
                <a:ea typeface="+mn-lt"/>
                <a:cs typeface="+mn-lt"/>
              </a:rPr>
              <a:t>: Brought continuous speech-to-text dictation to personal computers.</a:t>
            </a:r>
            <a:endParaRPr lang="en-US" sz="8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800">
                <a:ea typeface="+mn-lt"/>
                <a:cs typeface="+mn-lt"/>
              </a:rPr>
              <a:t>1999 – </a:t>
            </a:r>
            <a:r>
              <a:rPr lang="en-US" sz="800" b="1">
                <a:ea typeface="+mn-lt"/>
                <a:cs typeface="+mn-lt"/>
              </a:rPr>
              <a:t>Sony AIBO</a:t>
            </a:r>
            <a:r>
              <a:rPr lang="en-US" sz="800">
                <a:ea typeface="+mn-lt"/>
                <a:cs typeface="+mn-lt"/>
              </a:rPr>
              <a:t>: Introduced a robotic pet dog that could sense its surroundings and interact with people at home.</a:t>
            </a:r>
            <a:endParaRPr lang="en-US" sz="8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800">
                <a:ea typeface="+mn-lt"/>
                <a:cs typeface="+mn-lt"/>
              </a:rPr>
              <a:t>2002 – </a:t>
            </a:r>
            <a:r>
              <a:rPr lang="en-US" sz="800" b="1">
                <a:ea typeface="+mn-lt"/>
                <a:cs typeface="+mn-lt"/>
              </a:rPr>
              <a:t>iRobot Roomba</a:t>
            </a:r>
            <a:r>
              <a:rPr lang="en-US" sz="800">
                <a:ea typeface="+mn-lt"/>
                <a:cs typeface="+mn-lt"/>
              </a:rPr>
              <a:t>: Brought AI-powered robotic vacuuming into homes, using sensors to clean floors automatically.</a:t>
            </a:r>
            <a:endParaRPr lang="en-US" sz="8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800">
                <a:ea typeface="+mn-lt"/>
                <a:cs typeface="+mn-lt"/>
              </a:rPr>
              <a:t>2004 – </a:t>
            </a:r>
            <a:r>
              <a:rPr lang="en-US" sz="800" b="1">
                <a:ea typeface="+mn-lt"/>
                <a:cs typeface="+mn-lt"/>
              </a:rPr>
              <a:t>NASA’s Spirit</a:t>
            </a:r>
            <a:r>
              <a:rPr lang="en-US" sz="800">
                <a:ea typeface="+mn-lt"/>
                <a:cs typeface="+mn-lt"/>
              </a:rPr>
              <a:t>: Used autonomous navigation to avoid obstacles while exploring Mars while working with instructions from Earth. </a:t>
            </a:r>
            <a:endParaRPr lang="en-US" sz="8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800">
              <a:ea typeface="+mn-lt"/>
              <a:cs typeface="+mn-lt"/>
            </a:endParaRPr>
          </a:p>
          <a:p>
            <a:endParaRPr lang="en-US" sz="800">
              <a:ea typeface="+mn-lt"/>
              <a:cs typeface="+mn-lt"/>
            </a:endParaRPr>
          </a:p>
          <a:p>
            <a:endParaRPr lang="en-US" sz="800">
              <a:ea typeface="+mn-lt"/>
              <a:cs typeface="+mn-lt"/>
            </a:endParaRPr>
          </a:p>
          <a:p>
            <a:endParaRPr lang="en-US" sz="800">
              <a:cs typeface="Arial"/>
            </a:endParaRPr>
          </a:p>
        </p:txBody>
      </p:sp>
      <p:pic>
        <p:nvPicPr>
          <p:cNvPr id="4" name="Picture 3" descr="Two robots next to a red ball&#10;&#10;AI-generated content may be incorrect.">
            <a:extLst>
              <a:ext uri="{FF2B5EF4-FFF2-40B4-BE49-F238E27FC236}">
                <a16:creationId xmlns:a16="http://schemas.microsoft.com/office/drawing/2014/main" id="{8D7F532F-3684-790E-EFD1-C8EFC87B8B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725548" y="1990942"/>
            <a:ext cx="1129067" cy="724826"/>
          </a:xfrm>
          <a:prstGeom prst="rect">
            <a:avLst/>
          </a:prstGeom>
        </p:spPr>
      </p:pic>
      <p:pic>
        <p:nvPicPr>
          <p:cNvPr id="7" name="Picture 6" descr="A robotic vacuum cleaner on a wood floor&#10;&#10;AI-generated content may be incorrect.">
            <a:extLst>
              <a:ext uri="{FF2B5EF4-FFF2-40B4-BE49-F238E27FC236}">
                <a16:creationId xmlns:a16="http://schemas.microsoft.com/office/drawing/2014/main" id="{FC89B8DC-8373-463E-05CC-6DE7CF7C23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726746" y="2989094"/>
            <a:ext cx="1122590" cy="626716"/>
          </a:xfrm>
          <a:prstGeom prst="rect">
            <a:avLst/>
          </a:prstGeom>
        </p:spPr>
      </p:pic>
      <p:pic>
        <p:nvPicPr>
          <p:cNvPr id="13" name="Picture 12" descr="A space rover on the surface of mars&#10;&#10;AI-generated content may be incorrect.">
            <a:extLst>
              <a:ext uri="{FF2B5EF4-FFF2-40B4-BE49-F238E27FC236}">
                <a16:creationId xmlns:a16="http://schemas.microsoft.com/office/drawing/2014/main" id="{BF8E1D3C-F0E8-90D5-FBED-38FB9B44C6B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726746" y="3873951"/>
            <a:ext cx="1122590" cy="747034"/>
          </a:xfrm>
          <a:prstGeom prst="rect">
            <a:avLst/>
          </a:prstGeom>
        </p:spPr>
      </p:pic>
      <p:pic>
        <p:nvPicPr>
          <p:cNvPr id="16" name="Picture 15" descr="A computer with a chess board&#10;&#10;AI-generated content may be incorrect.">
            <a:extLst>
              <a:ext uri="{FF2B5EF4-FFF2-40B4-BE49-F238E27FC236}">
                <a16:creationId xmlns:a16="http://schemas.microsoft.com/office/drawing/2014/main" id="{4803D355-588C-9A4F-20EA-9CD1DCB6A6F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7127851" y="1436914"/>
            <a:ext cx="897212" cy="127771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oogle Shape;437;p40"/>
          <p:cNvGrpSpPr/>
          <p:nvPr/>
        </p:nvGrpSpPr>
        <p:grpSpPr>
          <a:xfrm>
            <a:off x="8026560" y="4713120"/>
            <a:ext cx="780840" cy="198000"/>
            <a:chOff x="8026560" y="4713120"/>
            <a:chExt cx="780840" cy="198000"/>
          </a:xfrm>
        </p:grpSpPr>
        <p:sp>
          <p:nvSpPr>
            <p:cNvPr id="158" name="Google Shape;438;p40"/>
            <p:cNvSpPr/>
            <p:nvPr/>
          </p:nvSpPr>
          <p:spPr>
            <a:xfrm>
              <a:off x="8687880" y="4713120"/>
              <a:ext cx="119520" cy="19800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39" h="4203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" name="Google Shape;439;p40"/>
            <p:cNvSpPr/>
            <p:nvPr/>
          </p:nvSpPr>
          <p:spPr>
            <a:xfrm>
              <a:off x="8467560" y="4713120"/>
              <a:ext cx="119520" cy="19800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" name="Google Shape;440;p40"/>
            <p:cNvSpPr/>
            <p:nvPr/>
          </p:nvSpPr>
          <p:spPr>
            <a:xfrm>
              <a:off x="8247240" y="4713120"/>
              <a:ext cx="119520" cy="19800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" name="Google Shape;441;p40"/>
            <p:cNvSpPr/>
            <p:nvPr/>
          </p:nvSpPr>
          <p:spPr>
            <a:xfrm>
              <a:off x="8026560" y="4713120"/>
              <a:ext cx="120600" cy="198000"/>
            </a:xfrm>
            <a:custGeom>
              <a:avLst/>
              <a:gdLst>
                <a:gd name="textAreaLeft" fmla="*/ 0 w 120600"/>
                <a:gd name="textAreaRight" fmla="*/ 120960 w 12060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59" h="4203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62" name="Rectangle 161"/>
          <p:cNvSpPr/>
          <p:nvPr/>
        </p:nvSpPr>
        <p:spPr>
          <a:xfrm>
            <a:off x="819000" y="628560"/>
            <a:ext cx="7505280" cy="3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 fontScale="85000" lnSpcReduction="19999"/>
          </a:bodyPr>
          <a:lstStyle/>
          <a:p>
            <a:pPr>
              <a:tabLst>
                <a:tab pos="0" algn="l"/>
              </a:tabLst>
            </a:pPr>
            <a:r>
              <a:rPr lang="en-US" sz="2400" b="1">
                <a:solidFill>
                  <a:srgbClr val="6E79E4"/>
                </a:solidFill>
                <a:latin typeface="Bebas Neue"/>
              </a:rPr>
              <a:t>Road to deep learning  2005 - 2012 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4743360" y="1467000"/>
            <a:ext cx="3580920" cy="88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C1C1C1"/>
              </a:solidFill>
              <a:effectLst/>
              <a:uFillTx/>
              <a:latin typeface="Raleway Medium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819000" y="4181400"/>
            <a:ext cx="750528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C1C1C1"/>
              </a:solidFill>
              <a:effectLst/>
              <a:uFillTx/>
              <a:latin typeface="Raleway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BD584B-ED16-8438-C1B6-BAA1447346D6}"/>
              </a:ext>
            </a:extLst>
          </p:cNvPr>
          <p:cNvSpPr txBox="1"/>
          <p:nvPr/>
        </p:nvSpPr>
        <p:spPr>
          <a:xfrm>
            <a:off x="891540" y="1146810"/>
            <a:ext cx="7345680" cy="36009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"/>
              <a:buAutoNum type="arabicPeriod"/>
            </a:pPr>
            <a:r>
              <a:rPr lang="en-US" sz="1200" b="1"/>
              <a:t>October 8, 2005: Stanley wins the DARPA Grand Challenge.</a:t>
            </a:r>
            <a:r>
              <a:rPr lang="en-US" sz="1200"/>
              <a:t> It showed that machine learning could handle the real world and launched the self-driving car industry.</a:t>
            </a:r>
            <a:endParaRPr lang="en-US" sz="1200">
              <a:cs typeface="Arial"/>
            </a:endParaRPr>
          </a:p>
          <a:p>
            <a:pPr>
              <a:buAutoNum type="arabicPeriod"/>
            </a:pPr>
            <a:endParaRPr lang="en-US" sz="1200"/>
          </a:p>
          <a:p>
            <a:pPr>
              <a:buAutoNum type="arabicPeriod"/>
            </a:pPr>
            <a:endParaRPr lang="en-US" sz="1200"/>
          </a:p>
          <a:p>
            <a:pPr>
              <a:buAutoNum type="arabicPeriod"/>
            </a:pPr>
            <a:endParaRPr lang="en-US" sz="1200"/>
          </a:p>
          <a:p>
            <a:pPr>
              <a:buFontTx/>
              <a:buAutoNum type="arabicPeriod"/>
            </a:pPr>
            <a:endParaRPr lang="en-US" sz="1200"/>
          </a:p>
          <a:p>
            <a:pPr>
              <a:buFont typeface=""/>
              <a:buAutoNum type="arabicPeriod"/>
            </a:pPr>
            <a:r>
              <a:rPr lang="en-US" sz="1200" b="1"/>
              <a:t>July 2006: Hinton’s deep belief network paper.</a:t>
            </a:r>
            <a:r>
              <a:rPr lang="en-US" sz="1200"/>
              <a:t> It proved deep neural networks could be trained and revived the whole field.</a:t>
            </a:r>
            <a:endParaRPr lang="en-US" sz="1200">
              <a:cs typeface="Arial"/>
            </a:endParaRPr>
          </a:p>
          <a:p>
            <a:pPr>
              <a:buFont typeface=""/>
              <a:buAutoNum type="arabicPeriod"/>
            </a:pPr>
            <a:r>
              <a:rPr lang="en-US" sz="1200" b="1"/>
              <a:t>2009: ImageNet is released.</a:t>
            </a:r>
            <a:r>
              <a:rPr lang="en-US" sz="1200"/>
              <a:t> It supplied the large-scale labeled data that deep learning needed.</a:t>
            </a:r>
            <a:endParaRPr lang="en-US" sz="1200">
              <a:cs typeface="Arial"/>
            </a:endParaRPr>
          </a:p>
          <a:p>
            <a:pPr>
              <a:buFont typeface=""/>
              <a:buAutoNum type="arabicPeriod"/>
            </a:pPr>
            <a:r>
              <a:rPr lang="en-US" sz="1200" b="1"/>
              <a:t>2009: GPUs used for deep learning.</a:t>
            </a:r>
            <a:r>
              <a:rPr lang="en-US" sz="1200"/>
              <a:t> Training became up to 70× faster, which made large networks practical. The speech recognition breakthroughs followed soon after.</a:t>
            </a:r>
            <a:endParaRPr lang="en-US" sz="1200">
              <a:cs typeface="Arial"/>
            </a:endParaRPr>
          </a:p>
          <a:p>
            <a:pPr>
              <a:buFont typeface=""/>
              <a:buAutoNum type="arabicPeriod"/>
            </a:pPr>
            <a:r>
              <a:rPr lang="en-US" sz="1200" b="1"/>
              <a:t>September 30, 2012: </a:t>
            </a:r>
            <a:r>
              <a:rPr lang="en-US" sz="1200" b="1" err="1"/>
              <a:t>AlexNet</a:t>
            </a:r>
            <a:r>
              <a:rPr lang="en-US" sz="1200" b="1"/>
              <a:t> wins ImageNet.</a:t>
            </a:r>
            <a:r>
              <a:rPr lang="en-US" sz="1200"/>
              <a:t> Data, GPUs, and deep networks came together, and modern AI began.</a:t>
            </a:r>
            <a:endParaRPr lang="en-US" sz="1200">
              <a:cs typeface="Arial"/>
            </a:endParaRPr>
          </a:p>
          <a:p>
            <a:pPr algn="ctr"/>
            <a:endParaRPr lang="en-US"/>
          </a:p>
          <a:p>
            <a:pPr algn="ctr"/>
            <a:endParaRPr lang="en-US">
              <a:cs typeface="Arial"/>
            </a:endParaRPr>
          </a:p>
          <a:p>
            <a:pPr algn="ctr"/>
            <a:endParaRPr lang="en-US">
              <a:cs typeface="Arial"/>
            </a:endParaRPr>
          </a:p>
          <a:p>
            <a:pPr algn="ctr"/>
            <a:endParaRPr lang="en-US">
              <a:cs typeface="Arial"/>
            </a:endParaRPr>
          </a:p>
        </p:txBody>
      </p:sp>
      <p:pic>
        <p:nvPicPr>
          <p:cNvPr id="3" name="Picture 2" descr="Stanley (vehicle) - Wikipedia">
            <a:extLst>
              <a:ext uri="{FF2B5EF4-FFF2-40B4-BE49-F238E27FC236}">
                <a16:creationId xmlns:a16="http://schemas.microsoft.com/office/drawing/2014/main" id="{75EB0BC9-6CBF-CC5D-D573-372EFA8C6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255" y="1469707"/>
            <a:ext cx="1139190" cy="763905"/>
          </a:xfrm>
          <a:prstGeom prst="rect">
            <a:avLst/>
          </a:prstGeom>
        </p:spPr>
      </p:pic>
      <p:pic>
        <p:nvPicPr>
          <p:cNvPr id="4" name="Picture 3" descr="Google &amp; DeepMind Researchers Revamp ImageNet | Synced">
            <a:extLst>
              <a:ext uri="{FF2B5EF4-FFF2-40B4-BE49-F238E27FC236}">
                <a16:creationId xmlns:a16="http://schemas.microsoft.com/office/drawing/2014/main" id="{103480CF-F2EA-497B-CAD0-AFAB2D3777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115" y="3610927"/>
            <a:ext cx="2152650" cy="9010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Google Shape;437;p40"/>
          <p:cNvGrpSpPr/>
          <p:nvPr/>
        </p:nvGrpSpPr>
        <p:grpSpPr>
          <a:xfrm>
            <a:off x="8026560" y="4802417"/>
            <a:ext cx="780840" cy="198000"/>
            <a:chOff x="8026560" y="4713120"/>
            <a:chExt cx="780840" cy="198000"/>
          </a:xfrm>
        </p:grpSpPr>
        <p:sp>
          <p:nvSpPr>
            <p:cNvPr id="167" name="Google Shape;438;p40"/>
            <p:cNvSpPr/>
            <p:nvPr/>
          </p:nvSpPr>
          <p:spPr>
            <a:xfrm>
              <a:off x="8687880" y="4713120"/>
              <a:ext cx="119520" cy="19800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39" h="4203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" name="Google Shape;439;p40"/>
            <p:cNvSpPr/>
            <p:nvPr/>
          </p:nvSpPr>
          <p:spPr>
            <a:xfrm>
              <a:off x="8467560" y="4713120"/>
              <a:ext cx="119520" cy="19800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" name="Google Shape;440;p40"/>
            <p:cNvSpPr/>
            <p:nvPr/>
          </p:nvSpPr>
          <p:spPr>
            <a:xfrm>
              <a:off x="8247240" y="4713120"/>
              <a:ext cx="119520" cy="19800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" name="Google Shape;441;p40"/>
            <p:cNvSpPr/>
            <p:nvPr/>
          </p:nvSpPr>
          <p:spPr>
            <a:xfrm>
              <a:off x="8026560" y="4713120"/>
              <a:ext cx="120600" cy="198000"/>
            </a:xfrm>
            <a:custGeom>
              <a:avLst/>
              <a:gdLst>
                <a:gd name="textAreaLeft" fmla="*/ 0 w 120600"/>
                <a:gd name="textAreaRight" fmla="*/ 120960 w 12060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59" h="4203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500" name="title">
            <a:extLst>
              <a:ext uri="{FF2B5EF4-FFF2-40B4-BE49-F238E27FC236}">
                <a16:creationId xmlns:a16="http://schemas.microsoft.com/office/drawing/2014/main" id="{9CC35CAB-D2C9-4EE1-AF77-71454D90EC2B}"/>
              </a:ext>
            </a:extLst>
          </p:cNvPr>
          <p:cNvSpPr>
            <a:spLocks noGrp="1"/>
          </p:cNvSpPr>
          <p:nvPr/>
        </p:nvSpPr>
        <p:spPr>
          <a:xfrm>
            <a:off x="857250" y="409575"/>
            <a:ext cx="7715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C83F4"/>
                </a:solidFill>
                <a:latin typeface="Arial"/>
                <a:ea typeface="Arial"/>
                <a:cs typeface="Arial"/>
              </a:rPr>
              <a:t>AI DEVELOPMENT: 2013–2015</a:t>
            </a:r>
          </a:p>
        </p:txBody>
      </p:sp>
      <p:sp>
        <p:nvSpPr>
          <p:cNvPr id="501" name="date-0">
            <a:extLst>
              <a:ext uri="{FF2B5EF4-FFF2-40B4-BE49-F238E27FC236}">
                <a16:creationId xmlns:a16="http://schemas.microsoft.com/office/drawing/2014/main" id="{B01B8E12-FE35-46C9-AFFF-FB15216AC4E2}"/>
              </a:ext>
            </a:extLst>
          </p:cNvPr>
          <p:cNvSpPr>
            <a:spLocks noGrp="1"/>
          </p:cNvSpPr>
          <p:nvPr/>
        </p:nvSpPr>
        <p:spPr>
          <a:xfrm>
            <a:off x="857250" y="1194197"/>
            <a:ext cx="3619500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98FF"/>
                </a:solidFill>
                <a:latin typeface="Arial"/>
                <a:ea typeface="Arial"/>
                <a:cs typeface="Arial"/>
              </a:rPr>
              <a:t>January 16, 2013</a:t>
            </a:r>
          </a:p>
        </p:txBody>
      </p:sp>
      <p:sp>
        <p:nvSpPr>
          <p:cNvPr id="502" name="milestone-0">
            <a:extLst>
              <a:ext uri="{FF2B5EF4-FFF2-40B4-BE49-F238E27FC236}">
                <a16:creationId xmlns:a16="http://schemas.microsoft.com/office/drawing/2014/main" id="{823BCFE3-D9F1-4895-A5A3-2822387A315E}"/>
              </a:ext>
            </a:extLst>
          </p:cNvPr>
          <p:cNvSpPr>
            <a:spLocks noGrp="1"/>
          </p:cNvSpPr>
          <p:nvPr/>
        </p:nvSpPr>
        <p:spPr>
          <a:xfrm>
            <a:off x="857250" y="1403747"/>
            <a:ext cx="361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Google’s word2vec model</a:t>
            </a:r>
          </a:p>
        </p:txBody>
      </p:sp>
      <p:sp>
        <p:nvSpPr>
          <p:cNvPr id="503" name="impact-0">
            <a:extLst>
              <a:ext uri="{FF2B5EF4-FFF2-40B4-BE49-F238E27FC236}">
                <a16:creationId xmlns:a16="http://schemas.microsoft.com/office/drawing/2014/main" id="{E54BCB08-E72E-45A9-B11A-C3D0900DC067}"/>
              </a:ext>
            </a:extLst>
          </p:cNvPr>
          <p:cNvSpPr>
            <a:spLocks noGrp="1"/>
          </p:cNvSpPr>
          <p:nvPr/>
        </p:nvSpPr>
        <p:spPr>
          <a:xfrm>
            <a:off x="857250" y="1651397"/>
            <a:ext cx="3619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Helped computers find relationships between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words improving the way AI processed language.</a:t>
            </a:r>
          </a:p>
        </p:txBody>
      </p:sp>
      <p:sp>
        <p:nvSpPr>
          <p:cNvPr id="504" name="date-1">
            <a:extLst>
              <a:ext uri="{FF2B5EF4-FFF2-40B4-BE49-F238E27FC236}">
                <a16:creationId xmlns:a16="http://schemas.microsoft.com/office/drawing/2014/main" id="{9E40CAC2-7A56-47B4-B0A5-2520264DE5F2}"/>
              </a:ext>
            </a:extLst>
          </p:cNvPr>
          <p:cNvSpPr>
            <a:spLocks noGrp="1"/>
          </p:cNvSpPr>
          <p:nvPr/>
        </p:nvSpPr>
        <p:spPr>
          <a:xfrm>
            <a:off x="857250" y="2280047"/>
            <a:ext cx="3619500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98FF"/>
                </a:solidFill>
                <a:latin typeface="Arial"/>
                <a:ea typeface="Arial"/>
                <a:cs typeface="Arial"/>
              </a:rPr>
              <a:t>June 10, 2014</a:t>
            </a:r>
          </a:p>
        </p:txBody>
      </p:sp>
      <p:sp>
        <p:nvSpPr>
          <p:cNvPr id="505" name="milestone-1">
            <a:extLst>
              <a:ext uri="{FF2B5EF4-FFF2-40B4-BE49-F238E27FC236}">
                <a16:creationId xmlns:a16="http://schemas.microsoft.com/office/drawing/2014/main" id="{7975ED88-0B97-4B32-B5E5-A41CFCC0AAAA}"/>
              </a:ext>
            </a:extLst>
          </p:cNvPr>
          <p:cNvSpPr>
            <a:spLocks noGrp="1"/>
          </p:cNvSpPr>
          <p:nvPr/>
        </p:nvSpPr>
        <p:spPr>
          <a:xfrm>
            <a:off x="857250" y="2489597"/>
            <a:ext cx="361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Generative adversarial networks (GANs)</a:t>
            </a:r>
          </a:p>
        </p:txBody>
      </p:sp>
      <p:sp>
        <p:nvSpPr>
          <p:cNvPr id="506" name="impact-1">
            <a:extLst>
              <a:ext uri="{FF2B5EF4-FFF2-40B4-BE49-F238E27FC236}">
                <a16:creationId xmlns:a16="http://schemas.microsoft.com/office/drawing/2014/main" id="{9550F9E9-00C8-4CB8-95D8-F1D9B0340D5E}"/>
              </a:ext>
            </a:extLst>
          </p:cNvPr>
          <p:cNvSpPr>
            <a:spLocks noGrp="1"/>
          </p:cNvSpPr>
          <p:nvPr/>
        </p:nvSpPr>
        <p:spPr>
          <a:xfrm>
            <a:off x="857250" y="2737247"/>
            <a:ext cx="36195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Introduced a way for AI to create new images and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other data. Two networks improve together: one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creates examples, and the other checks them.</a:t>
            </a:r>
          </a:p>
        </p:txBody>
      </p:sp>
      <p:sp>
        <p:nvSpPr>
          <p:cNvPr id="507" name="date-2">
            <a:extLst>
              <a:ext uri="{FF2B5EF4-FFF2-40B4-BE49-F238E27FC236}">
                <a16:creationId xmlns:a16="http://schemas.microsoft.com/office/drawing/2014/main" id="{10813C69-992E-44D3-9778-31900817CE26}"/>
              </a:ext>
            </a:extLst>
          </p:cNvPr>
          <p:cNvSpPr>
            <a:spLocks noGrp="1"/>
          </p:cNvSpPr>
          <p:nvPr/>
        </p:nvSpPr>
        <p:spPr>
          <a:xfrm>
            <a:off x="857250" y="3556397"/>
            <a:ext cx="3619500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98FF"/>
                </a:solidFill>
                <a:latin typeface="Arial"/>
                <a:ea typeface="Arial"/>
                <a:cs typeface="Arial"/>
              </a:rPr>
              <a:t>September 1, 2014</a:t>
            </a:r>
          </a:p>
        </p:txBody>
      </p:sp>
      <p:sp>
        <p:nvSpPr>
          <p:cNvPr id="508" name="milestone-2">
            <a:extLst>
              <a:ext uri="{FF2B5EF4-FFF2-40B4-BE49-F238E27FC236}">
                <a16:creationId xmlns:a16="http://schemas.microsoft.com/office/drawing/2014/main" id="{5A07CFC4-751C-4C25-8588-8AD67A273288}"/>
              </a:ext>
            </a:extLst>
          </p:cNvPr>
          <p:cNvSpPr>
            <a:spLocks noGrp="1"/>
          </p:cNvSpPr>
          <p:nvPr/>
        </p:nvSpPr>
        <p:spPr>
          <a:xfrm>
            <a:off x="857250" y="3765947"/>
            <a:ext cx="361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Attention in machine translation</a:t>
            </a:r>
          </a:p>
        </p:txBody>
      </p:sp>
      <p:sp>
        <p:nvSpPr>
          <p:cNvPr id="509" name="impact-2">
            <a:extLst>
              <a:ext uri="{FF2B5EF4-FFF2-40B4-BE49-F238E27FC236}">
                <a16:creationId xmlns:a16="http://schemas.microsoft.com/office/drawing/2014/main" id="{1849CE59-A4F6-4C86-BF2B-0F9FD786C0FA}"/>
              </a:ext>
            </a:extLst>
          </p:cNvPr>
          <p:cNvSpPr>
            <a:spLocks noGrp="1"/>
          </p:cNvSpPr>
          <p:nvPr/>
        </p:nvSpPr>
        <p:spPr>
          <a:xfrm>
            <a:off x="857250" y="4013597"/>
            <a:ext cx="36195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Helped AI focus on the most useful words in a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sentence. Easier for working with longer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sentences</a:t>
            </a:r>
          </a:p>
        </p:txBody>
      </p:sp>
      <p:sp>
        <p:nvSpPr>
          <p:cNvPr id="510" name="date-3">
            <a:extLst>
              <a:ext uri="{FF2B5EF4-FFF2-40B4-BE49-F238E27FC236}">
                <a16:creationId xmlns:a16="http://schemas.microsoft.com/office/drawing/2014/main" id="{91F653C1-3C08-4EC1-972A-4911FD37D33E}"/>
              </a:ext>
            </a:extLst>
          </p:cNvPr>
          <p:cNvSpPr>
            <a:spLocks noGrp="1"/>
          </p:cNvSpPr>
          <p:nvPr/>
        </p:nvSpPr>
        <p:spPr>
          <a:xfrm>
            <a:off x="4953000" y="1194197"/>
            <a:ext cx="3619500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98FF"/>
                </a:solidFill>
                <a:latin typeface="Arial"/>
                <a:ea typeface="Arial"/>
                <a:cs typeface="Arial"/>
              </a:rPr>
              <a:t>February 25, 2015</a:t>
            </a:r>
          </a:p>
        </p:txBody>
      </p:sp>
      <p:sp>
        <p:nvSpPr>
          <p:cNvPr id="511" name="milestone-3">
            <a:extLst>
              <a:ext uri="{FF2B5EF4-FFF2-40B4-BE49-F238E27FC236}">
                <a16:creationId xmlns:a16="http://schemas.microsoft.com/office/drawing/2014/main" id="{EE742060-A0B2-437B-8B80-096A2D8C98F3}"/>
              </a:ext>
            </a:extLst>
          </p:cNvPr>
          <p:cNvSpPr>
            <a:spLocks noGrp="1"/>
          </p:cNvSpPr>
          <p:nvPr/>
        </p:nvSpPr>
        <p:spPr>
          <a:xfrm>
            <a:off x="4953000" y="1403747"/>
            <a:ext cx="361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DeepMind’s Atari breakthrough</a:t>
            </a:r>
          </a:p>
        </p:txBody>
      </p:sp>
      <p:sp>
        <p:nvSpPr>
          <p:cNvPr id="512" name="impact-3">
            <a:extLst>
              <a:ext uri="{FF2B5EF4-FFF2-40B4-BE49-F238E27FC236}">
                <a16:creationId xmlns:a16="http://schemas.microsoft.com/office/drawing/2014/main" id="{12A277E1-5A12-40A3-8108-B040F4430D0C}"/>
              </a:ext>
            </a:extLst>
          </p:cNvPr>
          <p:cNvSpPr>
            <a:spLocks noGrp="1"/>
          </p:cNvSpPr>
          <p:nvPr/>
        </p:nvSpPr>
        <p:spPr>
          <a:xfrm>
            <a:off x="4953000" y="1651397"/>
            <a:ext cx="3619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Showed that AI could learn to play using a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practice and rewards system, helping AI self-learn</a:t>
            </a:r>
          </a:p>
        </p:txBody>
      </p:sp>
      <p:sp>
        <p:nvSpPr>
          <p:cNvPr id="513" name="date-4">
            <a:extLst>
              <a:ext uri="{FF2B5EF4-FFF2-40B4-BE49-F238E27FC236}">
                <a16:creationId xmlns:a16="http://schemas.microsoft.com/office/drawing/2014/main" id="{9E10B5C2-09B1-4088-B385-AF91598CC55D}"/>
              </a:ext>
            </a:extLst>
          </p:cNvPr>
          <p:cNvSpPr>
            <a:spLocks noGrp="1"/>
          </p:cNvSpPr>
          <p:nvPr/>
        </p:nvSpPr>
        <p:spPr>
          <a:xfrm>
            <a:off x="4953000" y="2200672"/>
            <a:ext cx="3619500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98FF"/>
                </a:solidFill>
                <a:latin typeface="Arial"/>
                <a:ea typeface="Arial"/>
                <a:cs typeface="Arial"/>
              </a:rPr>
              <a:t>November 9, 2015</a:t>
            </a:r>
          </a:p>
        </p:txBody>
      </p:sp>
      <p:sp>
        <p:nvSpPr>
          <p:cNvPr id="514" name="milestone-4">
            <a:extLst>
              <a:ext uri="{FF2B5EF4-FFF2-40B4-BE49-F238E27FC236}">
                <a16:creationId xmlns:a16="http://schemas.microsoft.com/office/drawing/2014/main" id="{66997F2D-CF95-4CBA-973D-88DF160B20E2}"/>
              </a:ext>
            </a:extLst>
          </p:cNvPr>
          <p:cNvSpPr>
            <a:spLocks noGrp="1"/>
          </p:cNvSpPr>
          <p:nvPr/>
        </p:nvSpPr>
        <p:spPr>
          <a:xfrm>
            <a:off x="4953000" y="2410222"/>
            <a:ext cx="361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TensorFlow becomes open source</a:t>
            </a:r>
          </a:p>
        </p:txBody>
      </p:sp>
      <p:sp>
        <p:nvSpPr>
          <p:cNvPr id="515" name="impact-4">
            <a:extLst>
              <a:ext uri="{FF2B5EF4-FFF2-40B4-BE49-F238E27FC236}">
                <a16:creationId xmlns:a16="http://schemas.microsoft.com/office/drawing/2014/main" id="{16B04FEE-E504-43E4-B8B4-4ADF804E983E}"/>
              </a:ext>
            </a:extLst>
          </p:cNvPr>
          <p:cNvSpPr>
            <a:spLocks noGrp="1"/>
          </p:cNvSpPr>
          <p:nvPr/>
        </p:nvSpPr>
        <p:spPr>
          <a:xfrm>
            <a:off x="4953000" y="2657872"/>
            <a:ext cx="36195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More access to tools that help build with AI</a:t>
            </a:r>
          </a:p>
        </p:txBody>
      </p:sp>
      <p:sp>
        <p:nvSpPr>
          <p:cNvPr id="516" name="date-5">
            <a:extLst>
              <a:ext uri="{FF2B5EF4-FFF2-40B4-BE49-F238E27FC236}">
                <a16:creationId xmlns:a16="http://schemas.microsoft.com/office/drawing/2014/main" id="{75259909-B317-4FFC-AE72-EF6295B42D43}"/>
              </a:ext>
            </a:extLst>
          </p:cNvPr>
          <p:cNvSpPr>
            <a:spLocks noGrp="1"/>
          </p:cNvSpPr>
          <p:nvPr/>
        </p:nvSpPr>
        <p:spPr>
          <a:xfrm>
            <a:off x="4953000" y="3016647"/>
            <a:ext cx="3619500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98FF"/>
                </a:solidFill>
                <a:latin typeface="Arial"/>
                <a:ea typeface="Arial"/>
                <a:cs typeface="Arial"/>
              </a:rPr>
              <a:t>December 10, 2015</a:t>
            </a:r>
          </a:p>
        </p:txBody>
      </p:sp>
      <p:sp>
        <p:nvSpPr>
          <p:cNvPr id="517" name="milestone-5">
            <a:extLst>
              <a:ext uri="{FF2B5EF4-FFF2-40B4-BE49-F238E27FC236}">
                <a16:creationId xmlns:a16="http://schemas.microsoft.com/office/drawing/2014/main" id="{042FC975-C925-42FE-A1B9-3D14B75AC8AE}"/>
              </a:ext>
            </a:extLst>
          </p:cNvPr>
          <p:cNvSpPr>
            <a:spLocks noGrp="1"/>
          </p:cNvSpPr>
          <p:nvPr/>
        </p:nvSpPr>
        <p:spPr>
          <a:xfrm>
            <a:off x="4953000" y="3226197"/>
            <a:ext cx="361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ResNet research</a:t>
            </a:r>
          </a:p>
        </p:txBody>
      </p:sp>
      <p:sp>
        <p:nvSpPr>
          <p:cNvPr id="518" name="impact-5">
            <a:extLst>
              <a:ext uri="{FF2B5EF4-FFF2-40B4-BE49-F238E27FC236}">
                <a16:creationId xmlns:a16="http://schemas.microsoft.com/office/drawing/2014/main" id="{F551661F-F533-41C5-A9E0-F8A6BEB422DC}"/>
              </a:ext>
            </a:extLst>
          </p:cNvPr>
          <p:cNvSpPr>
            <a:spLocks noGrp="1"/>
          </p:cNvSpPr>
          <p:nvPr/>
        </p:nvSpPr>
        <p:spPr>
          <a:xfrm>
            <a:off x="4953000" y="3473847"/>
            <a:ext cx="3619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Made it easier for neural networks for many layers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to be trained increasing Image recognition</a:t>
            </a:r>
          </a:p>
        </p:txBody>
      </p:sp>
      <p:sp>
        <p:nvSpPr>
          <p:cNvPr id="519" name="date-6">
            <a:extLst>
              <a:ext uri="{FF2B5EF4-FFF2-40B4-BE49-F238E27FC236}">
                <a16:creationId xmlns:a16="http://schemas.microsoft.com/office/drawing/2014/main" id="{E016D5AE-7995-48D1-A4BE-ABD75CA5AA3C}"/>
              </a:ext>
            </a:extLst>
          </p:cNvPr>
          <p:cNvSpPr>
            <a:spLocks noGrp="1"/>
          </p:cNvSpPr>
          <p:nvPr/>
        </p:nvSpPr>
        <p:spPr>
          <a:xfrm>
            <a:off x="4953000" y="4023122"/>
            <a:ext cx="3619500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98FF"/>
                </a:solidFill>
                <a:latin typeface="Arial"/>
                <a:ea typeface="Arial"/>
                <a:cs typeface="Arial"/>
              </a:rPr>
              <a:t>December 11, 2015</a:t>
            </a:r>
          </a:p>
        </p:txBody>
      </p:sp>
      <p:sp>
        <p:nvSpPr>
          <p:cNvPr id="520" name="milestone-6">
            <a:extLst>
              <a:ext uri="{FF2B5EF4-FFF2-40B4-BE49-F238E27FC236}">
                <a16:creationId xmlns:a16="http://schemas.microsoft.com/office/drawing/2014/main" id="{51BE5ED4-7AE6-4C0D-8EE3-00F0A99F935C}"/>
              </a:ext>
            </a:extLst>
          </p:cNvPr>
          <p:cNvSpPr>
            <a:spLocks noGrp="1"/>
          </p:cNvSpPr>
          <p:nvPr/>
        </p:nvSpPr>
        <p:spPr>
          <a:xfrm>
            <a:off x="4953000" y="4232672"/>
            <a:ext cx="361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OpenAI announced</a:t>
            </a:r>
          </a:p>
        </p:txBody>
      </p:sp>
      <p:sp>
        <p:nvSpPr>
          <p:cNvPr id="521" name="impact-6">
            <a:extLst>
              <a:ext uri="{FF2B5EF4-FFF2-40B4-BE49-F238E27FC236}">
                <a16:creationId xmlns:a16="http://schemas.microsoft.com/office/drawing/2014/main" id="{EB506C45-DFB0-4862-AF41-20C745AF7624}"/>
              </a:ext>
            </a:extLst>
          </p:cNvPr>
          <p:cNvSpPr>
            <a:spLocks noGrp="1"/>
          </p:cNvSpPr>
          <p:nvPr/>
        </p:nvSpPr>
        <p:spPr>
          <a:xfrm>
            <a:off x="4953000" y="4480322"/>
            <a:ext cx="36195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Org focused on AI research</a:t>
            </a:r>
          </a:p>
        </p:txBody>
      </p:sp>
    </p:spTree>
    <p:extLst>
      <p:ext uri="{BB962C8B-B14F-4D97-AF65-F5344CB8AC3E}">
        <p14:creationId xmlns:p14="http://schemas.microsoft.com/office/powerpoint/2010/main" val="894772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Google Shape;437;p40"/>
          <p:cNvGrpSpPr/>
          <p:nvPr/>
        </p:nvGrpSpPr>
        <p:grpSpPr>
          <a:xfrm>
            <a:off x="8026560" y="4713120"/>
            <a:ext cx="780840" cy="198000"/>
            <a:chOff x="8026560" y="4713120"/>
            <a:chExt cx="780840" cy="198000"/>
          </a:xfrm>
        </p:grpSpPr>
        <p:sp>
          <p:nvSpPr>
            <p:cNvPr id="167" name="Google Shape;438;p40"/>
            <p:cNvSpPr/>
            <p:nvPr/>
          </p:nvSpPr>
          <p:spPr>
            <a:xfrm>
              <a:off x="8687880" y="4713120"/>
              <a:ext cx="119520" cy="19800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39" h="4203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" name="Google Shape;439;p40"/>
            <p:cNvSpPr/>
            <p:nvPr/>
          </p:nvSpPr>
          <p:spPr>
            <a:xfrm>
              <a:off x="8467560" y="4713120"/>
              <a:ext cx="119520" cy="19800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" name="Google Shape;440;p40"/>
            <p:cNvSpPr/>
            <p:nvPr/>
          </p:nvSpPr>
          <p:spPr>
            <a:xfrm>
              <a:off x="8247240" y="4713120"/>
              <a:ext cx="119520" cy="19800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" name="Google Shape;441;p40"/>
            <p:cNvSpPr/>
            <p:nvPr/>
          </p:nvSpPr>
          <p:spPr>
            <a:xfrm>
              <a:off x="8026560" y="4713120"/>
              <a:ext cx="120600" cy="198000"/>
            </a:xfrm>
            <a:custGeom>
              <a:avLst/>
              <a:gdLst>
                <a:gd name="textAreaLeft" fmla="*/ 0 w 120600"/>
                <a:gd name="textAreaRight" fmla="*/ 120960 w 120600"/>
                <a:gd name="textAreaTop" fmla="*/ 0 h 198000"/>
                <a:gd name="textAreaBottom" fmla="*/ 198360 h 198000"/>
              </a:gdLst>
              <a:ahLst/>
              <a:cxnLst/>
              <a:rect l="textAreaLeft" t="textAreaTop" r="textAreaRight" b="textAreaBottom"/>
              <a:pathLst>
                <a:path w="2559" h="4203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500" name="title">
            <a:extLst>
              <a:ext uri="{FF2B5EF4-FFF2-40B4-BE49-F238E27FC236}">
                <a16:creationId xmlns:a16="http://schemas.microsoft.com/office/drawing/2014/main" id="{9D0442F0-E807-42FB-9858-2FE92CDBEC3C}"/>
              </a:ext>
            </a:extLst>
          </p:cNvPr>
          <p:cNvSpPr>
            <a:spLocks noGrp="1"/>
          </p:cNvSpPr>
          <p:nvPr/>
        </p:nvSpPr>
        <p:spPr>
          <a:xfrm>
            <a:off x="857250" y="409575"/>
            <a:ext cx="7715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2700" b="1">
                <a:solidFill>
                  <a:srgbClr val="7C83F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C83F4"/>
                </a:solidFill>
                <a:latin typeface="Arial"/>
                <a:ea typeface="Arial"/>
                <a:cs typeface="Arial"/>
              </a:rPr>
              <a:t>AI DEVELOPMENT: 2017–2019</a:t>
            </a:r>
          </a:p>
        </p:txBody>
      </p:sp>
      <p:sp>
        <p:nvSpPr>
          <p:cNvPr id="501" name="date-7">
            <a:extLst>
              <a:ext uri="{FF2B5EF4-FFF2-40B4-BE49-F238E27FC236}">
                <a16:creationId xmlns:a16="http://schemas.microsoft.com/office/drawing/2014/main" id="{5C117B62-3A5B-4604-81D6-2A5729159A25}"/>
              </a:ext>
            </a:extLst>
          </p:cNvPr>
          <p:cNvSpPr>
            <a:spLocks noGrp="1"/>
          </p:cNvSpPr>
          <p:nvPr/>
        </p:nvSpPr>
        <p:spPr>
          <a:xfrm>
            <a:off x="857250" y="1194197"/>
            <a:ext cx="3619500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98FF"/>
                </a:solidFill>
                <a:latin typeface="Arial"/>
                <a:ea typeface="Arial"/>
                <a:cs typeface="Arial"/>
              </a:rPr>
              <a:t>June 12, 2017</a:t>
            </a:r>
          </a:p>
        </p:txBody>
      </p:sp>
      <p:sp>
        <p:nvSpPr>
          <p:cNvPr id="502" name="milestone-7">
            <a:extLst>
              <a:ext uri="{FF2B5EF4-FFF2-40B4-BE49-F238E27FC236}">
                <a16:creationId xmlns:a16="http://schemas.microsoft.com/office/drawing/2014/main" id="{3BBA0AA2-DC20-42A7-A6F7-FE2D50155606}"/>
              </a:ext>
            </a:extLst>
          </p:cNvPr>
          <p:cNvSpPr>
            <a:spLocks noGrp="1"/>
          </p:cNvSpPr>
          <p:nvPr/>
        </p:nvSpPr>
        <p:spPr>
          <a:xfrm>
            <a:off x="857250" y="1403747"/>
            <a:ext cx="361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Transformers</a:t>
            </a:r>
          </a:p>
        </p:txBody>
      </p:sp>
      <p:sp>
        <p:nvSpPr>
          <p:cNvPr id="503" name="impact-7">
            <a:extLst>
              <a:ext uri="{FF2B5EF4-FFF2-40B4-BE49-F238E27FC236}">
                <a16:creationId xmlns:a16="http://schemas.microsoft.com/office/drawing/2014/main" id="{ECB36B5D-0056-4C17-9D45-056CDF40168B}"/>
              </a:ext>
            </a:extLst>
          </p:cNvPr>
          <p:cNvSpPr>
            <a:spLocks noGrp="1"/>
          </p:cNvSpPr>
          <p:nvPr/>
        </p:nvSpPr>
        <p:spPr>
          <a:xfrm>
            <a:off x="857250" y="1651397"/>
            <a:ext cx="36195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Efficient way to process language during training</a:t>
            </a:r>
          </a:p>
        </p:txBody>
      </p:sp>
      <p:sp>
        <p:nvSpPr>
          <p:cNvPr id="504" name="date-8">
            <a:extLst>
              <a:ext uri="{FF2B5EF4-FFF2-40B4-BE49-F238E27FC236}">
                <a16:creationId xmlns:a16="http://schemas.microsoft.com/office/drawing/2014/main" id="{743A26FC-B662-4420-90E9-5344B2663272}"/>
              </a:ext>
            </a:extLst>
          </p:cNvPr>
          <p:cNvSpPr>
            <a:spLocks noGrp="1"/>
          </p:cNvSpPr>
          <p:nvPr/>
        </p:nvSpPr>
        <p:spPr>
          <a:xfrm>
            <a:off x="857250" y="2089547"/>
            <a:ext cx="3619500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98FF"/>
                </a:solidFill>
                <a:latin typeface="Arial"/>
                <a:ea typeface="Arial"/>
                <a:cs typeface="Arial"/>
              </a:rPr>
              <a:t>December 5, 2017</a:t>
            </a:r>
          </a:p>
        </p:txBody>
      </p:sp>
      <p:sp>
        <p:nvSpPr>
          <p:cNvPr id="505" name="milestone-8">
            <a:extLst>
              <a:ext uri="{FF2B5EF4-FFF2-40B4-BE49-F238E27FC236}">
                <a16:creationId xmlns:a16="http://schemas.microsoft.com/office/drawing/2014/main" id="{64DFC659-167F-4F26-9B70-9468A2281ECB}"/>
              </a:ext>
            </a:extLst>
          </p:cNvPr>
          <p:cNvSpPr>
            <a:spLocks noGrp="1"/>
          </p:cNvSpPr>
          <p:nvPr/>
        </p:nvSpPr>
        <p:spPr>
          <a:xfrm>
            <a:off x="857250" y="2299097"/>
            <a:ext cx="361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AlphaZero research</a:t>
            </a:r>
          </a:p>
        </p:txBody>
      </p:sp>
      <p:sp>
        <p:nvSpPr>
          <p:cNvPr id="506" name="impact-8">
            <a:extLst>
              <a:ext uri="{FF2B5EF4-FFF2-40B4-BE49-F238E27FC236}">
                <a16:creationId xmlns:a16="http://schemas.microsoft.com/office/drawing/2014/main" id="{B30B7A39-8389-4EFC-B073-F1C26EE41836}"/>
              </a:ext>
            </a:extLst>
          </p:cNvPr>
          <p:cNvSpPr>
            <a:spLocks noGrp="1"/>
          </p:cNvSpPr>
          <p:nvPr/>
        </p:nvSpPr>
        <p:spPr>
          <a:xfrm>
            <a:off x="857250" y="2546747"/>
            <a:ext cx="36195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AI could learn by playing games with itself</a:t>
            </a:r>
          </a:p>
        </p:txBody>
      </p:sp>
      <p:sp>
        <p:nvSpPr>
          <p:cNvPr id="507" name="date-9">
            <a:extLst>
              <a:ext uri="{FF2B5EF4-FFF2-40B4-BE49-F238E27FC236}">
                <a16:creationId xmlns:a16="http://schemas.microsoft.com/office/drawing/2014/main" id="{EF1565A0-3158-44E1-A359-7D4EE66D631D}"/>
              </a:ext>
            </a:extLst>
          </p:cNvPr>
          <p:cNvSpPr>
            <a:spLocks noGrp="1"/>
          </p:cNvSpPr>
          <p:nvPr/>
        </p:nvSpPr>
        <p:spPr>
          <a:xfrm>
            <a:off x="857250" y="2984897"/>
            <a:ext cx="3619500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98FF"/>
                </a:solidFill>
                <a:latin typeface="Arial"/>
                <a:ea typeface="Arial"/>
                <a:cs typeface="Arial"/>
              </a:rPr>
              <a:t>June 11, 2018</a:t>
            </a:r>
          </a:p>
        </p:txBody>
      </p:sp>
      <p:sp>
        <p:nvSpPr>
          <p:cNvPr id="508" name="milestone-9">
            <a:extLst>
              <a:ext uri="{FF2B5EF4-FFF2-40B4-BE49-F238E27FC236}">
                <a16:creationId xmlns:a16="http://schemas.microsoft.com/office/drawing/2014/main" id="{D939844D-7F5E-4706-9B2C-C2F2F4BE6FB2}"/>
              </a:ext>
            </a:extLst>
          </p:cNvPr>
          <p:cNvSpPr>
            <a:spLocks noGrp="1"/>
          </p:cNvSpPr>
          <p:nvPr/>
        </p:nvSpPr>
        <p:spPr>
          <a:xfrm>
            <a:off x="857250" y="3194447"/>
            <a:ext cx="361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Original GPT announced</a:t>
            </a:r>
          </a:p>
        </p:txBody>
      </p:sp>
      <p:sp>
        <p:nvSpPr>
          <p:cNvPr id="509" name="impact-9">
            <a:extLst>
              <a:ext uri="{FF2B5EF4-FFF2-40B4-BE49-F238E27FC236}">
                <a16:creationId xmlns:a16="http://schemas.microsoft.com/office/drawing/2014/main" id="{2235CA15-9E86-45CE-9F4C-5E517C4AF6AD}"/>
              </a:ext>
            </a:extLst>
          </p:cNvPr>
          <p:cNvSpPr>
            <a:spLocks noGrp="1"/>
          </p:cNvSpPr>
          <p:nvPr/>
        </p:nvSpPr>
        <p:spPr>
          <a:xfrm>
            <a:off x="857250" y="3442097"/>
            <a:ext cx="3619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AI could learn patterns from text and then be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trained on that text for tasks.</a:t>
            </a:r>
          </a:p>
        </p:txBody>
      </p:sp>
      <p:sp>
        <p:nvSpPr>
          <p:cNvPr id="510" name="date-10">
            <a:extLst>
              <a:ext uri="{FF2B5EF4-FFF2-40B4-BE49-F238E27FC236}">
                <a16:creationId xmlns:a16="http://schemas.microsoft.com/office/drawing/2014/main" id="{F0E14A5C-1BBF-4702-BCD2-F1BF1DB2364B}"/>
              </a:ext>
            </a:extLst>
          </p:cNvPr>
          <p:cNvSpPr>
            <a:spLocks noGrp="1"/>
          </p:cNvSpPr>
          <p:nvPr/>
        </p:nvSpPr>
        <p:spPr>
          <a:xfrm>
            <a:off x="4953000" y="1194197"/>
            <a:ext cx="3619500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98FF"/>
                </a:solidFill>
                <a:latin typeface="Arial"/>
                <a:ea typeface="Arial"/>
                <a:cs typeface="Arial"/>
              </a:rPr>
              <a:t>October 11, 2018</a:t>
            </a:r>
          </a:p>
        </p:txBody>
      </p:sp>
      <p:sp>
        <p:nvSpPr>
          <p:cNvPr id="511" name="milestone-10">
            <a:extLst>
              <a:ext uri="{FF2B5EF4-FFF2-40B4-BE49-F238E27FC236}">
                <a16:creationId xmlns:a16="http://schemas.microsoft.com/office/drawing/2014/main" id="{CC558DE1-FC12-420F-8760-4E4CF1488DFD}"/>
              </a:ext>
            </a:extLst>
          </p:cNvPr>
          <p:cNvSpPr>
            <a:spLocks noGrp="1"/>
          </p:cNvSpPr>
          <p:nvPr/>
        </p:nvSpPr>
        <p:spPr>
          <a:xfrm>
            <a:off x="4953000" y="1403747"/>
            <a:ext cx="361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BERT research</a:t>
            </a:r>
          </a:p>
        </p:txBody>
      </p:sp>
      <p:sp>
        <p:nvSpPr>
          <p:cNvPr id="512" name="impact-10">
            <a:extLst>
              <a:ext uri="{FF2B5EF4-FFF2-40B4-BE49-F238E27FC236}">
                <a16:creationId xmlns:a16="http://schemas.microsoft.com/office/drawing/2014/main" id="{B5760713-982D-47EB-841C-004E23C26781}"/>
              </a:ext>
            </a:extLst>
          </p:cNvPr>
          <p:cNvSpPr>
            <a:spLocks noGrp="1"/>
          </p:cNvSpPr>
          <p:nvPr/>
        </p:nvSpPr>
        <p:spPr>
          <a:xfrm>
            <a:off x="4953000" y="1651397"/>
            <a:ext cx="3619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Helped AI use the words before and after a word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to work out its meaning</a:t>
            </a:r>
          </a:p>
        </p:txBody>
      </p:sp>
      <p:sp>
        <p:nvSpPr>
          <p:cNvPr id="513" name="date-11">
            <a:extLst>
              <a:ext uri="{FF2B5EF4-FFF2-40B4-BE49-F238E27FC236}">
                <a16:creationId xmlns:a16="http://schemas.microsoft.com/office/drawing/2014/main" id="{7B22788F-9CF3-48A4-8DE6-F74B5395D5E4}"/>
              </a:ext>
            </a:extLst>
          </p:cNvPr>
          <p:cNvSpPr>
            <a:spLocks noGrp="1"/>
          </p:cNvSpPr>
          <p:nvPr/>
        </p:nvSpPr>
        <p:spPr>
          <a:xfrm>
            <a:off x="4953000" y="2280047"/>
            <a:ext cx="3619500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9298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98FF"/>
                </a:solidFill>
                <a:latin typeface="Arial"/>
                <a:ea typeface="Arial"/>
                <a:cs typeface="Arial"/>
              </a:rPr>
              <a:t>February 14, 2019</a:t>
            </a:r>
          </a:p>
        </p:txBody>
      </p:sp>
      <p:sp>
        <p:nvSpPr>
          <p:cNvPr id="514" name="milestone-11">
            <a:extLst>
              <a:ext uri="{FF2B5EF4-FFF2-40B4-BE49-F238E27FC236}">
                <a16:creationId xmlns:a16="http://schemas.microsoft.com/office/drawing/2014/main" id="{DF9A4C33-F4C7-488E-B7FE-A998DCE36A23}"/>
              </a:ext>
            </a:extLst>
          </p:cNvPr>
          <p:cNvSpPr>
            <a:spLocks noGrp="1"/>
          </p:cNvSpPr>
          <p:nvPr/>
        </p:nvSpPr>
        <p:spPr>
          <a:xfrm>
            <a:off x="4953000" y="2489597"/>
            <a:ext cx="361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F7F7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GPT-2 announced</a:t>
            </a:r>
          </a:p>
        </p:txBody>
      </p:sp>
      <p:sp>
        <p:nvSpPr>
          <p:cNvPr id="515" name="impact-11">
            <a:extLst>
              <a:ext uri="{FF2B5EF4-FFF2-40B4-BE49-F238E27FC236}">
                <a16:creationId xmlns:a16="http://schemas.microsoft.com/office/drawing/2014/main" id="{FA9F4C3C-FB98-43C3-9BA5-CC6C362F454A}"/>
              </a:ext>
            </a:extLst>
          </p:cNvPr>
          <p:cNvSpPr>
            <a:spLocks noGrp="1"/>
          </p:cNvSpPr>
          <p:nvPr/>
        </p:nvSpPr>
        <p:spPr>
          <a:xfrm>
            <a:off x="4953000" y="2737247"/>
            <a:ext cx="3619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Showed that AI could generate longer, more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connected passages of text.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It also increased discussion about how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D9D9E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AI-generated text could be misused.</a:t>
            </a:r>
          </a:p>
        </p:txBody>
      </p:sp>
    </p:spTree>
    <p:extLst>
      <p:ext uri="{BB962C8B-B14F-4D97-AF65-F5344CB8AC3E}">
        <p14:creationId xmlns:p14="http://schemas.microsoft.com/office/powerpoint/2010/main" val="21095094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9B60D-0640-1F39-E592-D83FB8AE0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E6D77C-CC24-E903-D882-2B68540D285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57200" y="441480"/>
            <a:ext cx="8229240" cy="2982960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A6F4B3-AC20-63A5-336B-2733E58D4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90"/>
            <a:ext cx="9144000" cy="51363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20048D-2383-6BF5-BA45-70AC84C56909}"/>
              </a:ext>
            </a:extLst>
          </p:cNvPr>
          <p:cNvSpPr txBox="1"/>
          <p:nvPr/>
        </p:nvSpPr>
        <p:spPr>
          <a:xfrm>
            <a:off x="3954706" y="702162"/>
            <a:ext cx="10721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827989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013E3-7592-CC78-3710-F6496502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0AC796-D50B-7B31-12CC-2434A1EF9F3F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lang="en-US" sz="4000" b="1">
                <a:solidFill>
                  <a:srgbClr val="0070C0"/>
                </a:solidFill>
                <a:cs typeface="Arial"/>
              </a:rPr>
              <a:t>REFERENCES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771009-3663-7ADF-8130-E7675C78C6D2}"/>
              </a:ext>
            </a:extLst>
          </p:cNvPr>
          <p:cNvSpPr txBox="1"/>
          <p:nvPr/>
        </p:nvSpPr>
        <p:spPr>
          <a:xfrm>
            <a:off x="2286000" y="1276350"/>
            <a:ext cx="614172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br>
              <a:rPr lang="en-US">
                <a:cs typeface="Arial"/>
              </a:rPr>
            </a:br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E29D8B-9DBB-B6A0-AE5F-BAD092C86130}"/>
              </a:ext>
            </a:extLst>
          </p:cNvPr>
          <p:cNvSpPr txBox="1"/>
          <p:nvPr/>
        </p:nvSpPr>
        <p:spPr>
          <a:xfrm>
            <a:off x="725891" y="1024704"/>
            <a:ext cx="7694838" cy="38010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Anthropic. (2024, March 4).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Introducing the next generation of Claude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2"/>
              </a:rPr>
              <a:t>https://www.anthropic.com/news/claude-3-family</a:t>
            </a:r>
            <a:endParaRPr lang="en-US"/>
          </a:p>
          <a:p>
            <a:r>
              <a:rPr lang="en-US" sz="1100" err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Bahdanau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, D., Cho, K., &amp; Bengio, Y. (2014).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Neural machine translation by jointly learning to align and translate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 [Preprint]. arXiv.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3"/>
              </a:rPr>
              <a:t>https://arxiv.org/abs/1409.0473</a:t>
            </a:r>
            <a:endParaRPr lang="en-US"/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Barry, A. (2026, September 1).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The ECI frontier has advanced by 14 points per year since the introduction of reasoning models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. Epoch AI.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4"/>
              </a:rPr>
              <a:t>https://epoch.ai/data-insights/eci-frontier-trend</a:t>
            </a:r>
            <a:endParaRPr lang="en-US"/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Brockman, G., </a:t>
            </a:r>
            <a:r>
              <a:rPr lang="en-US" sz="1100" err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Sutskever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, I., &amp; OpenAI. (2015, December 11).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Introducing OpenAI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5"/>
              </a:rPr>
              <a:t>https://openai.com/index/introducing-openai/</a:t>
            </a:r>
            <a:endParaRPr lang="en-US"/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Center for AI Safety, &amp; Scale AI. (2025).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Humanity’s last exam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6"/>
              </a:rPr>
              <a:t>https://lastexam.ai/</a:t>
            </a:r>
            <a:endParaRPr lang="en-US"/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Computer History Museum. (n.d.).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Computer History Museum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7"/>
              </a:rPr>
              <a:t>https://www.computerhistory.org/</a:t>
            </a:r>
            <a:endParaRPr lang="en-US"/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DeepSeek. (2025, January 20).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DeepSeek-R1 release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8"/>
              </a:rPr>
              <a:t>https://deepseek.com/en/news/deepseek-r1/</a:t>
            </a:r>
            <a:endParaRPr lang="en-US"/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Defense Advanced Research Projects Agency. (2014).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Grand Challenge: Ten years later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9"/>
              </a:rPr>
              <a:t>https://www.darpa.mil/news/2014/grand-challenge-ten-years-later</a:t>
            </a:r>
            <a:endParaRPr lang="en-US"/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Devlin, J., Chang, M.-W., Lee, K., &amp; Toutanova, K. (2018).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BERT: Pre-training of deep bidirectional transformers for language understanding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 [Preprint]. arXiv.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10"/>
              </a:rPr>
              <a:t>https://arxiv.org/abs/1810.04805</a:t>
            </a:r>
            <a:endParaRPr lang="en-US"/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Epoch AI. (2026, February 5).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Trends in AI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11"/>
              </a:rPr>
              <a:t>https://epoch.ai/trends</a:t>
            </a:r>
            <a:endParaRPr lang="en-US"/>
          </a:p>
          <a:p>
            <a:r>
              <a:rPr lang="en-US" sz="1100" err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Gershgorn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, D. (2017, July 26). The data that transformed AI research—and possibly the world.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Quartz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12"/>
              </a:rPr>
              <a:t>https://qz.com/1034972/the-data-that-changed-the-direction-of-ai-research-and-possibly-the-world</a:t>
            </a:r>
            <a:endParaRPr lang="en-US"/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Goodfellow, I. J., Pouget-Abadie, J., Mirza, M., Xu, B., Warde-Farley, D., Ozair, S., Courville, A., &amp; Bengio, Y. (2014).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Generative adversarial networks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 [Preprint]. arXiv.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13"/>
              </a:rPr>
              <a:t>https://arxiv.org/abs/1406.2661</a:t>
            </a:r>
            <a:endParaRPr lang="en-US"/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Google DeepMind. (2016, March 15).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Deep reinforcement learning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Arial"/>
                <a:hlinkClick r:id="rId14"/>
              </a:rPr>
              <a:t>https://deepmind.google/blog/deep-reinforcement-learning/</a:t>
            </a:r>
            <a:endParaRPr lang="en-US"/>
          </a:p>
          <a:p>
            <a:endParaRPr lang="en-US" sz="10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434431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993E7-F378-D099-6B0C-82F5A0332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6D4CE-EE2D-1A68-333E-7B93BE86C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1F3326-522F-658B-65C4-967824A1971C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lang="en-US" sz="4000" b="1">
                <a:solidFill>
                  <a:srgbClr val="0070C0"/>
                </a:solidFill>
                <a:cs typeface="Arial"/>
              </a:rPr>
              <a:t>REFERENCES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FE86BD-36D8-C849-D97D-BD36225A0A80}"/>
              </a:ext>
            </a:extLst>
          </p:cNvPr>
          <p:cNvSpPr txBox="1"/>
          <p:nvPr/>
        </p:nvSpPr>
        <p:spPr>
          <a:xfrm>
            <a:off x="2286000" y="1276350"/>
            <a:ext cx="614172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br>
              <a:rPr lang="en-US">
                <a:cs typeface="Arial"/>
              </a:rPr>
            </a:br>
            <a:endParaRPr lang="en-US"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099AC-2EE1-3AD2-2DC2-8EF0DF4008D3}"/>
              </a:ext>
            </a:extLst>
          </p:cNvPr>
          <p:cNvSpPr txBox="1"/>
          <p:nvPr/>
        </p:nvSpPr>
        <p:spPr>
          <a:xfrm>
            <a:off x="729973" y="1032868"/>
            <a:ext cx="7686674" cy="36471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Google DeepMind. (2021, July 15).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AlphaFold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2"/>
              </a:rPr>
              <a:t>https://deepmind.google/science/alphafold/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He, K., Zhang, X., Ren, S., &amp; Sun, J. (2015).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Deep residual learning for image recognition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 [Preprint]. arXiv.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3"/>
              </a:rPr>
              <a:t>https://arxiv.org/abs/1512.03385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Hendrycks, D., Burns, C., Basart, S., Zou, A., Mazeika, M., Song, D., &amp; Steinhardt, J. (2021). Measuring massive multitask language understanding.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International Conference on Learning Representations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4"/>
              </a:rPr>
              <a:t>https://arxiv.org/abs/2009.03300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Hinton, G. E., </a:t>
            </a:r>
            <a:r>
              <a:rPr lang="en-US" sz="1100" err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Osindero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, S., &amp; Teh, Y.-W. (2006). A fast learning algorithm for deep belief nets.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Neural Computation, 18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(7), 1527–1554.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5"/>
              </a:rPr>
              <a:t>https://doi.org/10.1162/neco.2006.18.7.1527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Hsin. (1999).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Voice recognition paper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 [PDF]. Cornell University.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6"/>
              </a:rPr>
              <a:t>https://ergo.human.cornell.edu/AHProjects/Hsin99/Voice%20Recognition%20Paper.pdf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IBM. (n.d.).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Deep Blue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7"/>
              </a:rPr>
              <a:t>https://www.ibm.com/history/deep-blue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IEEE Spectrum. (n.d.).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iRobot Roomba history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8"/>
              </a:rPr>
              <a:t>https://spectrum.ieee.org/irobot-roomba-history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Krizhevsky, A., </a:t>
            </a:r>
            <a:r>
              <a:rPr lang="en-US" sz="1100" err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Sutskever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, I., &amp; Hinton, G. E. (2012). ImageNet classification with deep convolutional neural networks.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Advances in Neural Information Processing Systems, 25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, 1097–1105.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9"/>
              </a:rPr>
              <a:t>https://papers.nips.cc/paper/2012/hash/c399862d3b9d6b76c8436e924a68c45b-Abstract.html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Kumaran, D., &amp; Hassabis, D. (2015, February 25).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From pixels to actions: Human-level control through deep reinforcement learning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. Google Research.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10"/>
              </a:rPr>
              <a:t>https://research.google/blog/from-pixels-to-actions-human-level-control-through-deep-reinforcement-learning/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Lighthill, J. (1973). Artificial intelligence: A general survey.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Artificial Intelligence, 3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(1–3), 251–266.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11"/>
              </a:rPr>
              <a:t>https://doi.org/10.1016/0004-3702(73)90014-5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Linden, E. (1988, March 28). Technology: Putting knowledge to work.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Time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.</a:t>
            </a:r>
            <a:endParaRPr lang="en-US" sz="1100">
              <a:latin typeface="Cambria"/>
              <a:ea typeface="Cambria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McCarthy, J., Minsky, M. L., Rochester, N., &amp; Shannon, C. E. (2006). A proposal for the Dartmouth Summer Research Project on </a:t>
            </a:r>
            <a:endParaRPr lang="en-US" sz="1100">
              <a:solidFill>
                <a:srgbClr val="000000"/>
              </a:solidFill>
              <a:latin typeface="Cambria"/>
              <a:ea typeface="Cambri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6261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1573-D6C4-EA91-3337-E1ACC8359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503C-5576-856B-2247-6742AAB43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CDD4F4-DC44-3B65-18B0-91EF7F4255BF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lang="en-US" sz="4000" b="1">
                <a:solidFill>
                  <a:srgbClr val="0070C0"/>
                </a:solidFill>
                <a:cs typeface="Arial"/>
              </a:rPr>
              <a:t>REFERENCES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B59557-6416-B1F1-437A-55C3B8F25B48}"/>
              </a:ext>
            </a:extLst>
          </p:cNvPr>
          <p:cNvSpPr txBox="1"/>
          <p:nvPr/>
        </p:nvSpPr>
        <p:spPr>
          <a:xfrm>
            <a:off x="2286000" y="1276350"/>
            <a:ext cx="614172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br>
              <a:rPr lang="en-US">
                <a:cs typeface="Arial"/>
              </a:rPr>
            </a:br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1FE89-4948-D78A-1799-C5BBF97FD78E}"/>
              </a:ext>
            </a:extLst>
          </p:cNvPr>
          <p:cNvSpPr txBox="1"/>
          <p:nvPr/>
        </p:nvSpPr>
        <p:spPr>
          <a:xfrm>
            <a:off x="721569" y="1016060"/>
            <a:ext cx="7703482" cy="39549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Artificial Intelligence, August 31, 1955.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AI Magazine, 27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(4), 12.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2"/>
              </a:rPr>
              <a:t>https://doi.org/10.1609/aimag.v27i4.1904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McDermott, J. (1982). R1: A rule-based </a:t>
            </a:r>
            <a:r>
              <a:rPr lang="en-US" sz="1100" err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configurer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 of computer systems.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Artificial Intelligence, 19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(1), 39–88.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3"/>
              </a:rPr>
              <a:t>https://doi.org/10.1016/0004-3702(82)90021-2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Mikolov, T., Chen, K., Corrado, G., &amp; Dean, J. (2013).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Efficient estimation of word representations in vector space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 [Preprint]. arXiv.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4"/>
              </a:rPr>
              <a:t>https://arxiv.org/abs/1301.3781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MIT Lincoln Laboratory. (n.d.).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History of artificial intelligence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5"/>
              </a:rPr>
              <a:t>https://www.ll.mit.edu/media/9531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NASA Jet Propulsion Laboratory. (n.d.).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Chapter 3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 [PDF].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6"/>
              </a:rPr>
              <a:t>https://robotics.jpl.nasa.gov/media/documents/05_Chapter3_final.pdf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Nilsson, N. J. (1969). A mobile automaton: An application of artificial intelligence techniques.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Proceedings of the First International Joint Conference on Artificial Intelligence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, 509–520.</a:t>
            </a:r>
            <a:endParaRPr lang="en-US" sz="1100">
              <a:latin typeface="Cambria"/>
              <a:ea typeface="Cambria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OpenAI. (2018, June 11).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Improving language understanding with unsupervised learning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7"/>
              </a:rPr>
              <a:t>https://openai.com/index/language-unsupervised/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OpenAI. (2019, February 14).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Better language models and their implications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8"/>
              </a:rPr>
              <a:t>https://openai.com/index/better-language-models/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OpenAI. (2020, May 28).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Language models are few-shot learners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9"/>
              </a:rPr>
              <a:t>https://openai.com/index/language-models-are-few-shot-learners/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Pichai, S. (2015, November 9).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TensorFlow: Smarter machine learning, for everyone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. Google.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10"/>
              </a:rPr>
              <a:t>https://blog.google/innovation-and-ai/products/tensorflow-smarter-machine-learning-for/</a:t>
            </a:r>
            <a:endParaRPr lang="en-US" sz="1100">
              <a:ea typeface="+mn-lt"/>
              <a:cs typeface="+mn-lt"/>
            </a:endParaRPr>
          </a:p>
          <a:p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Rosenblatt, F. (1958). The perceptron: A probabilistic model for information storage and organization in the brain.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Psychological Review, 65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(6), 386–408. 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  <a:hlinkClick r:id="rId11"/>
              </a:rPr>
              <a:t>https://doi.org/10.1037/h0042519</a:t>
            </a:r>
            <a:endParaRPr lang="en-US" sz="1100">
              <a:ea typeface="+mn-lt"/>
              <a:cs typeface="+mn-lt"/>
            </a:endParaRPr>
          </a:p>
          <a:p>
            <a:r>
              <a:rPr lang="en-US" sz="1100" err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Shortliffe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, E. H. (1976). </a:t>
            </a:r>
            <a:r>
              <a:rPr lang="en-US" sz="1100" i="1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Computer-based medical consultations: MYCIN</a:t>
            </a:r>
            <a:r>
              <a:rPr lang="en-US" sz="1100">
                <a:solidFill>
                  <a:srgbClr val="000000"/>
                </a:solidFill>
                <a:latin typeface="Cambria"/>
                <a:ea typeface="Cambria"/>
                <a:cs typeface="+mn-lt"/>
              </a:rPr>
              <a:t>. Elsevier.</a:t>
            </a:r>
            <a:endParaRPr lang="en-US" sz="1100">
              <a:latin typeface="Cambria"/>
              <a:ea typeface="Cambria"/>
              <a:cs typeface="+mn-lt"/>
            </a:endParaRPr>
          </a:p>
          <a:p>
            <a:endParaRPr lang="en-US" sz="1000">
              <a:ea typeface="+mn-lt"/>
              <a:cs typeface="+mn-lt"/>
            </a:endParaRPr>
          </a:p>
          <a:p>
            <a:endParaRPr lang="en-US" sz="1000" b="1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13873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FD25-0B27-6091-09FA-750751B70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E17FA-19EF-C62A-8740-B81D1630A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515A50-829C-6A59-EE43-038D08006DD9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lang="en-US" sz="4000" b="1">
                <a:solidFill>
                  <a:srgbClr val="0070C0"/>
                </a:solidFill>
                <a:cs typeface="Arial"/>
              </a:rPr>
              <a:t>REFERENCES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6C31A2-1A21-FEA3-7FC5-A7FD8560A697}"/>
              </a:ext>
            </a:extLst>
          </p:cNvPr>
          <p:cNvSpPr txBox="1"/>
          <p:nvPr/>
        </p:nvSpPr>
        <p:spPr>
          <a:xfrm>
            <a:off x="2286000" y="1276350"/>
            <a:ext cx="614172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br>
              <a:rPr lang="en-US">
                <a:cs typeface="Arial"/>
              </a:rPr>
            </a:br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EB0D9B-9A25-EF17-FCA0-B74F76D06E96}"/>
              </a:ext>
            </a:extLst>
          </p:cNvPr>
          <p:cNvSpPr txBox="1"/>
          <p:nvPr/>
        </p:nvSpPr>
        <p:spPr>
          <a:xfrm>
            <a:off x="729973" y="1032868"/>
            <a:ext cx="7686674" cy="224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latin typeface="Times New Roman"/>
                <a:ea typeface="Cambria"/>
                <a:cs typeface="Times New Roman"/>
              </a:rPr>
              <a:t>Simonyan, K., &amp; Hassabis, D. (2017). </a:t>
            </a:r>
            <a:r>
              <a:rPr lang="en-US" sz="1200" i="1">
                <a:latin typeface="Times New Roman"/>
                <a:ea typeface="Cambria"/>
                <a:cs typeface="Times New Roman"/>
              </a:rPr>
              <a:t>Mastering chess and shogi by self-play with a general reinforcement learning algorithm</a:t>
            </a:r>
            <a:r>
              <a:rPr lang="en-US" sz="1200">
                <a:latin typeface="Times New Roman"/>
                <a:ea typeface="Cambria"/>
                <a:cs typeface="Times New Roman"/>
              </a:rPr>
              <a:t> [Preprint]. arXiv. </a:t>
            </a:r>
            <a:r>
              <a:rPr lang="en-US" sz="1200">
                <a:latin typeface="Times New Roman"/>
                <a:ea typeface="Cambria"/>
                <a:cs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https://arxiv.org/abs/1712.01815</a:t>
            </a:r>
            <a:endParaRPr lang="en-US" sz="1200">
              <a:latin typeface="Times New Roman"/>
              <a:cs typeface="Times New Roman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200">
                <a:latin typeface="Times New Roman"/>
                <a:ea typeface="Cambria"/>
                <a:cs typeface="Times New Roman"/>
              </a:rPr>
              <a:t>Turing, A. M. (1950). Computing machinery and intelligence. </a:t>
            </a:r>
            <a:r>
              <a:rPr lang="en-US" sz="1200" i="1">
                <a:latin typeface="Times New Roman"/>
                <a:ea typeface="Cambria"/>
                <a:cs typeface="Times New Roman"/>
              </a:rPr>
              <a:t>Mind, 59</a:t>
            </a:r>
            <a:r>
              <a:rPr lang="en-US" sz="1200">
                <a:latin typeface="Times New Roman"/>
                <a:ea typeface="Cambria"/>
                <a:cs typeface="Times New Roman"/>
              </a:rPr>
              <a:t>(236), 433–460. </a:t>
            </a:r>
            <a:r>
              <a:rPr lang="en-US" sz="1200">
                <a:latin typeface="Times New Roman"/>
                <a:ea typeface="Cambria"/>
                <a:cs typeface="Times New Roman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https://doi.org/10.1093/mind/LIX.236.433</a:t>
            </a:r>
            <a:endParaRPr lang="en-US" sz="1200">
              <a:latin typeface="Times New Roman"/>
              <a:cs typeface="Times New Roman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200">
                <a:latin typeface="Times New Roman"/>
                <a:ea typeface="Cambria"/>
                <a:cs typeface="Times New Roman"/>
              </a:rPr>
              <a:t>Vaswani, A., </a:t>
            </a:r>
            <a:r>
              <a:rPr lang="en-US" sz="1200" err="1">
                <a:latin typeface="Times New Roman"/>
                <a:ea typeface="Cambria"/>
                <a:cs typeface="Times New Roman"/>
              </a:rPr>
              <a:t>Shazeer</a:t>
            </a:r>
            <a:r>
              <a:rPr lang="en-US" sz="1200">
                <a:latin typeface="Times New Roman"/>
                <a:ea typeface="Cambria"/>
                <a:cs typeface="Times New Roman"/>
              </a:rPr>
              <a:t>, N., Parmar, N., </a:t>
            </a:r>
            <a:r>
              <a:rPr lang="en-US" sz="1200" err="1">
                <a:latin typeface="Times New Roman"/>
                <a:ea typeface="Cambria"/>
                <a:cs typeface="Times New Roman"/>
              </a:rPr>
              <a:t>Uszkoreit</a:t>
            </a:r>
            <a:r>
              <a:rPr lang="en-US" sz="1200">
                <a:latin typeface="Times New Roman"/>
                <a:ea typeface="Cambria"/>
                <a:cs typeface="Times New Roman"/>
              </a:rPr>
              <a:t>, J., Jones, L., Gomez, A. N., Kaiser, Ł., &amp; </a:t>
            </a:r>
            <a:r>
              <a:rPr lang="en-US" sz="1200" err="1">
                <a:latin typeface="Times New Roman"/>
                <a:ea typeface="Cambria"/>
                <a:cs typeface="Times New Roman"/>
              </a:rPr>
              <a:t>Polosukhin</a:t>
            </a:r>
            <a:r>
              <a:rPr lang="en-US" sz="1200">
                <a:latin typeface="Times New Roman"/>
                <a:ea typeface="Cambria"/>
                <a:cs typeface="Times New Roman"/>
              </a:rPr>
              <a:t>, I. (2017). </a:t>
            </a:r>
            <a:r>
              <a:rPr lang="en-US" sz="1200" i="1">
                <a:latin typeface="Times New Roman"/>
                <a:ea typeface="Cambria"/>
                <a:cs typeface="Times New Roman"/>
              </a:rPr>
              <a:t>Attention is all you need</a:t>
            </a:r>
            <a:r>
              <a:rPr lang="en-US" sz="1200">
                <a:latin typeface="Times New Roman"/>
                <a:ea typeface="Cambria"/>
                <a:cs typeface="Times New Roman"/>
              </a:rPr>
              <a:t> [Preprint]. arXiv. </a:t>
            </a:r>
            <a:r>
              <a:rPr lang="en-US" sz="1200">
                <a:latin typeface="Times New Roman"/>
                <a:ea typeface="Cambria"/>
                <a:cs typeface="Times New Roman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https://arxiv.org/abs/1706.03762</a:t>
            </a:r>
            <a:endParaRPr lang="en-US" sz="1200">
              <a:latin typeface="Times New Roman"/>
              <a:cs typeface="Times New Roman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200" err="1">
                <a:latin typeface="Times New Roman"/>
                <a:ea typeface="Cambria"/>
                <a:cs typeface="Times New Roman"/>
              </a:rPr>
              <a:t>Weizenbaum</a:t>
            </a:r>
            <a:r>
              <a:rPr lang="en-US" sz="1200">
                <a:latin typeface="Times New Roman"/>
                <a:ea typeface="Cambria"/>
                <a:cs typeface="Times New Roman"/>
              </a:rPr>
              <a:t>, J. (1966). ELIZA—A computer program for the study of natural language communication between man and machine. </a:t>
            </a:r>
            <a:r>
              <a:rPr lang="en-US" sz="1200" i="1">
                <a:latin typeface="Times New Roman"/>
                <a:ea typeface="Cambria"/>
                <a:cs typeface="Times New Roman"/>
              </a:rPr>
              <a:t>Communications of the ACM, 9</a:t>
            </a:r>
            <a:r>
              <a:rPr lang="en-US" sz="1200">
                <a:latin typeface="Times New Roman"/>
                <a:ea typeface="Cambria"/>
                <a:cs typeface="Times New Roman"/>
              </a:rPr>
              <a:t>(1), 36–45. </a:t>
            </a:r>
            <a:r>
              <a:rPr lang="en-US" sz="1200">
                <a:latin typeface="Times New Roman"/>
                <a:ea typeface="Cambria"/>
                <a:cs typeface="Times New Roman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https://doi.org/10.1145/365153.365168</a:t>
            </a:r>
            <a:endParaRPr lang="en-US" sz="1200">
              <a:latin typeface="Times New Roman"/>
              <a:cs typeface="Times New Roman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200">
                <a:latin typeface="Times New Roman"/>
                <a:ea typeface="Cambria"/>
                <a:cs typeface="Times New Roman"/>
              </a:rPr>
              <a:t>Wikipedia contributors. (n.d.). Timeline of artificial intelligence. In </a:t>
            </a:r>
            <a:r>
              <a:rPr lang="en-US" sz="1200" i="1">
                <a:latin typeface="Times New Roman"/>
                <a:ea typeface="Cambria"/>
                <a:cs typeface="Times New Roman"/>
              </a:rPr>
              <a:t>Wikipedia</a:t>
            </a:r>
            <a:r>
              <a:rPr lang="en-US" sz="1200">
                <a:latin typeface="Times New Roman"/>
                <a:ea typeface="Cambria"/>
                <a:cs typeface="Times New Roman"/>
              </a:rPr>
              <a:t>. Retrieved October 24, 2026, from </a:t>
            </a:r>
            <a:r>
              <a:rPr lang="en-US" sz="1200">
                <a:latin typeface="Times New Roman"/>
                <a:ea typeface="Cambria"/>
                <a:cs typeface="Times New Roman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https://en.wikipedia.org/wiki/Timeline_of_artificial_intelligence</a:t>
            </a:r>
            <a:endParaRPr lang="en-US" sz="1200">
              <a:latin typeface="Times New Roman"/>
              <a:cs typeface="Times New Roman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br>
              <a:rPr lang="en-US" sz="1000">
                <a:cs typeface="Arial"/>
              </a:rPr>
            </a:br>
            <a:endParaRPr lang="en-US" sz="10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67850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689A9-4578-A625-BF05-1611F0F7E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CAEE5-904D-89A8-BF73-F18E0CD12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DAB82-5B14-CD5C-5CA6-3107DD266F3F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lang="en-US" sz="4000" b="1">
                <a:solidFill>
                  <a:srgbClr val="0070C0"/>
                </a:solidFill>
                <a:cs typeface="Arial"/>
              </a:rPr>
              <a:t>GENERATIVE AI DISCLOSURE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5D9BE3-FB85-5347-CE6C-DF9287DB496B}"/>
              </a:ext>
            </a:extLst>
          </p:cNvPr>
          <p:cNvSpPr txBox="1"/>
          <p:nvPr/>
        </p:nvSpPr>
        <p:spPr>
          <a:xfrm>
            <a:off x="2286000" y="1276350"/>
            <a:ext cx="614172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br>
              <a:rPr lang="en-US">
                <a:cs typeface="Arial"/>
              </a:rPr>
            </a:br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1C4F8B-C27C-1D07-6FF4-526B7D151445}"/>
              </a:ext>
            </a:extLst>
          </p:cNvPr>
          <p:cNvSpPr txBox="1"/>
          <p:nvPr/>
        </p:nvSpPr>
        <p:spPr>
          <a:xfrm>
            <a:off x="729973" y="1032868"/>
            <a:ext cx="7686674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>
                <a:latin typeface="Times New Roman"/>
                <a:ea typeface="+mn-lt"/>
                <a:cs typeface="Times New Roman"/>
              </a:rPr>
              <a:t>Generative AI tools were used as a supplementary research tool to gather background information on the history and </a:t>
            </a:r>
            <a:r>
              <a:rPr lang="en-US" sz="1200">
                <a:latin typeface="Times New Roman"/>
                <a:ea typeface="+mn-lt"/>
                <a:cs typeface="Times New Roman"/>
              </a:rPr>
              <a:t>development of artificial intelligence, identify key milestones, and assist in organizing the presentation </a:t>
            </a:r>
            <a:r>
              <a:rPr lang="en-US" sz="1200" dirty="0">
                <a:latin typeface="Times New Roman"/>
                <a:ea typeface="+mn-lt"/>
                <a:cs typeface="Times New Roman"/>
              </a:rPr>
              <a:t>content. The information was reviewed and cross-referenced with additional sources to ensure accuracy.</a:t>
            </a:r>
            <a:endParaRPr lang="en-US" dirty="0">
              <a:latin typeface="Times New Roman"/>
              <a:ea typeface="+mn-lt"/>
              <a:cs typeface="Times New Roman"/>
            </a:endParaRPr>
          </a:p>
          <a:p>
            <a:br>
              <a:rPr lang="en-US" sz="1000" dirty="0">
                <a:cs typeface="Arial"/>
              </a:rPr>
            </a:br>
            <a:endParaRPr lang="en-US" sz="10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3500183"/>
      </p:ext>
    </p:extLst>
  </p:cSld>
  <p:clrMapOvr>
    <a:masterClrMapping/>
  </p:clrMapOvr>
</p:sld>
</file>

<file path=ppt/theme/theme1.xml><?xml version="1.0" encoding="utf-8"?>
<a:theme xmlns:a="http://schemas.openxmlformats.org/drawingml/2006/main" name="Artificial Intelligence (AI) Startup Business Plan by Slidesgo">
  <a:themeElements>
    <a:clrScheme name="Simple Light">
      <a:dk1>
        <a:srgbClr val="191919"/>
      </a:dk1>
      <a:lt1>
        <a:srgbClr val="FFFFFF"/>
      </a:lt1>
      <a:dk2>
        <a:srgbClr val="C1C1C1"/>
      </a:dk2>
      <a:lt2>
        <a:srgbClr val="E7E7E7"/>
      </a:lt2>
      <a:accent1>
        <a:srgbClr val="6E79E4"/>
      </a:accent1>
      <a:accent2>
        <a:srgbClr val="3C3C3B"/>
      </a:accent2>
      <a:accent3>
        <a:srgbClr val="5C64B8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(16:9)</PresentationFormat>
  <Slides>15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Artificial Intelligence (AI) Startup Business Plan by Slidesgo</vt:lpstr>
      <vt:lpstr>PowerPoint Presentation</vt:lpstr>
      <vt:lpstr>PowerPoint Presentation</vt:lpstr>
      <vt:lpstr>AI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revision>11</cp:revision>
  <dcterms:modified xsi:type="dcterms:W3CDTF">2026-10-25T17:15:47Z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2026-10-23T15:03:24Z</dcterms:created>
  <dc:creator>Slidesgo AI</dc:creator>
  <dc:description/>
  <dc:language>en-US</dc:language>
  <cp:lastModifiedBy>Unknown Creator</cp:lastModifiedBy>
  <dcterms:modified xsi:type="dcterms:W3CDTF">2026-10-23T15:03:24Z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9</vt:r8>
  </property>
  <property fmtid="{D5CDD505-2E9C-101B-9397-08002B2CF9AE}" pid="3" name="SlidesgoGeneratedBy">
    <vt:lpwstr>slidesgo-ai</vt:lpwstr>
  </property>
  <property fmtid="{D5CDD505-2E9C-101B-9397-08002B2CF9AE}" pid="4" name="SlidesgoPresentationUuid">
    <vt:lpwstr>a30d1fef-1ac7-43ca-a2a6-f82f62b8e04b</vt:lpwstr>
  </property>
</Properties>
</file>